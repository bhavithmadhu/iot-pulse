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professors and evaluation panel. Today, we present IoT PULSE: From Traffic to Threats. Our objective was to move beyond textbook descriptive analytics and build a rigorous empirical data science case study on the RT-IOT2022 dataset—combining non-parametric hypothesis testing, multiple comparison corrections, balanced machine learning, and an enterprise 3D cybersecurity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articulate the core problem. The Internet of Things introduces vast asymmetry: smart devices send small periodic updates, while malicious adversaries bombard networks with thousands of automated packets per second. Our objective was fivefold: perform transparent data cleaning, answer 15 research questions with formal hypotheses, apply strict multiple-testing corrections, benchmark Random Forest with class-aware weights, and deliver enterprise visualizations.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RT-IOT2022 dataset captures realistic smart-home IoT devices paired with real-world attacks. Notice our 4 baseline metrics: 123,117 flow records across 84 features, grouped into 12 classes. Normal operations comprise real Wipro smart bulbs, ThingSpeak sensors, and MQTT brokers. Attacks include Hping3, Slowloris, ARP poisoning, and Nmap reconnaissance.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hygiene was our first priority. We confirmed zero missing values across all 84 columns. Importantly, we dropped 'Unnamed: 0' so row indices wouldn't contaminate the analysis. We also removed port numbers before training our model to prevent artificial label leakage. Outliers were audited via Tukey's 1.5x IQR fence, but preserved because high packet rates are genuine attack signatures.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exploratory analysis uncovered an extreme 3,380-to-1 class imbalance ratio. DOS_SYN_Hping accounts for nearly 77% of all records, while NMAP_FIN_SCAN accounts for only 28 flows (0.02%). This is crucial: standard accuracy is completely deceptive here. Furthermore, telemetry distributions are heavily skewed, confirming that parametric Gaussian assumptions would produce invalid inferences.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core statistical rigor of our project. Across the 15 research questions, we conducted 11 formal inferential tests spanning Pearson Chi-Square, Kruskal-Wallis, Mann-Whitney U, and Spearman correlation. To avoid the multiple comparisons fallacy, we applied the Benjamini-Hochberg False Discovery Rate correction at alpha = 0.05. All 11 tests maintained adjusted p-values below 0.0001. We report both test statistics and standardized effect sizes.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10 revealed one of the most critical domain insights in this case study: The High-SYN Paradox. Intuition suggests a SYN flood would have thousands of SYN flags per flow. But our statistical test returned z = -196.12, revealing that DOS_SYN_Hping had 0.00% high-SYN flows. Why? Because Hping3 spoofs source addresses, sending single-packet SYNs. Zeek records each as an isolated single-packet flow. Meanwhile, normal IoT connections that retransmit have higher SYN counts. This proves why statistical data science is essential for cybersecurity detection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satisfy the machine learning requirement, we trained a cost-sensitive Random Forest classifier. Because our dataset is imbalanced, accuracy is meaningless. We report Macro-F1 score: our model achieves 0.9338 compared to the majority-class baseline of 0.0724, demonstrating an empirical lift of +0.8614. Top predictive features include urgent flag counts, TCP window sizes, and push flag counts—directly reflecting the protocol mechanics.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elevated this project from a static notebook into an enterprise-grade full-stack platform. The architecture combines an in-memory DuckDB columnar engine executing SQL queries over 123k records in under 15 milliseconds, a FastAPI REST service, an interactive 3D WebGL network globe built with React and Three.js, and a 100% passing test suite of 17 automated Pytest unit 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satisfy the Business Intelligence requirement, we constructed comprehensive Power BI and Tableau deliverables. We modeled a star schema connecting 10 curated export tables, wrote 170+ lines of enterprise DAX measures, and designed a 5-page Power BI dashboard. It supports live dynamic API refresh via Power Query M as well as offline CSV ingestion. A native Tableau workbook is also provided for cross-platform macOS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hallmark of sound data science is intellectual honesty about limitations. First, we explicitly state that protocol comparisons are observational, not randomized A/B experiments. Second, our model reflects offline testbed separability and may not generalize to unseen enterprise networks. Third, network flow bursts exhibit clustering, which can understate inferential uncertainty. Acknowledging these constraints demonstrates mature academic practice.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IoT PULSE demonstrates that statistical data science and domain knowledge must go hand in hand. Normal smart sensors exhibit persistent bidirectional dialogues, while attacks exhibit rapid, asymmetric bursts. By applying non-parametric inference, False Discovery Rate control, and cost-sensitive ensemble modeling, we successfully uncovered the statistical patterns separating normal traffic from threats. Thank you, and we now welcome any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731520" y="1645920"/>
            <a:ext cx="109728" cy="29260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463040"/>
            <a:ext cx="10058400" cy="3291840"/>
          </a:xfrm>
          <a:prstGeom prst="rect">
            <a:avLst/>
          </a:prstGeom>
          <a:noFill/>
        </p:spPr>
        <p:txBody>
          <a:bodyPr wrap="square">
            <a:spAutoFit/>
          </a:bodyPr>
          <a:lstStyle/>
          <a:p>
            <a:pPr>
              <a:defRPr sz="1300" b="1">
                <a:solidFill>
                  <a:srgbClr val="06B6D4"/>
                </a:solidFill>
                <a:latin typeface="Calibri"/>
              </a:defRPr>
            </a:pPr>
            <a:r>
              <a:t>FOUNDATIONS OF DATA SCIENCE (23CSE351) — FINAL CASE STUDY</a:t>
            </a:r>
          </a:p>
          <a:p>
            <a:pPr>
              <a:spcBef>
                <a:spcPts val="800"/>
              </a:spcBef>
              <a:defRPr sz="3600" b="1">
                <a:solidFill>
                  <a:srgbClr val="F8FAFC"/>
                </a:solidFill>
                <a:latin typeface="Calibri"/>
              </a:defRPr>
            </a:pPr>
            <a:r>
              <a:t>IoT PULSE: From Traffic to Threats</a:t>
            </a:r>
          </a:p>
          <a:p>
            <a:pPr>
              <a:spcBef>
                <a:spcPts val="600"/>
              </a:spcBef>
              <a:defRPr sz="1800">
                <a:solidFill>
                  <a:srgbClr val="10B981"/>
                </a:solidFill>
                <a:latin typeface="Calibri"/>
              </a:defRPr>
            </a:pPr>
            <a:r>
              <a:t>Uncovering Statistical Patterns of Normal &amp; Malicious IoT Network Behaviour</a:t>
            </a:r>
          </a:p>
          <a:p>
            <a:pPr>
              <a:spcBef>
                <a:spcPts val="1200"/>
              </a:spcBef>
              <a:defRPr sz="1200">
                <a:solidFill>
                  <a:srgbClr val="94A3B8"/>
                </a:solidFill>
                <a:latin typeface="Calibri"/>
              </a:defRPr>
            </a:pPr>
            <a:r>
              <a:t>An end-to-end empirical investigation analyzing 123,117 real-time network flows with non-parametric inference, multiclass machine learning, and interactive 3D telemetry visualization.</a:t>
            </a:r>
          </a:p>
        </p:txBody>
      </p:sp>
      <p:sp>
        <p:nvSpPr>
          <p:cNvPr id="4" name="Rounded Rectangle 3"/>
          <p:cNvSpPr/>
          <p:nvPr/>
        </p:nvSpPr>
        <p:spPr>
          <a:xfrm>
            <a:off x="731520" y="4937760"/>
            <a:ext cx="10728655" cy="128016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5029200"/>
            <a:ext cx="10149840" cy="1097280"/>
          </a:xfrm>
          <a:prstGeom prst="rect">
            <a:avLst/>
          </a:prstGeom>
          <a:noFill/>
        </p:spPr>
        <p:txBody>
          <a:bodyPr wrap="none">
            <a:spAutoFit/>
          </a:bodyPr>
          <a:lstStyle/>
          <a:p>
            <a:pPr>
              <a:defRPr sz="1000" b="1">
                <a:solidFill>
                  <a:srgbClr val="06B6D4"/>
                </a:solidFill>
              </a:defRPr>
            </a:pPr>
            <a:r>
              <a:t>RESEARCH TEAM &amp; CASE STUDY DETAILS</a:t>
            </a:r>
          </a:p>
          <a:p>
            <a:pPr>
              <a:spcBef>
                <a:spcPts val="400"/>
              </a:spcBef>
              <a:defRPr sz="1200">
                <a:solidFill>
                  <a:srgbClr val="F8FAFC"/>
                </a:solidFill>
              </a:defRPr>
            </a:pPr>
            <a:r>
              <a:t>Author / Presenter: Bhavith Madhu (IoT PULSE Team)  |  Dataset: RT-IOT2022 Benchmark  |  Architecture: FastAPI + DuckDB + React/Three.js + Power BI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EXECUTIVE CONTEXT</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Problem Statement &amp; Strategic Objectives</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02 / 12</a:t>
            </a:r>
          </a:p>
        </p:txBody>
      </p:sp>
      <p:sp>
        <p:nvSpPr>
          <p:cNvPr id="5" name="Rounded Rectangle 4"/>
          <p:cNvSpPr/>
          <p:nvPr/>
        </p:nvSpPr>
        <p:spPr>
          <a:xfrm>
            <a:off x="731520" y="1371600"/>
            <a:ext cx="512064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754880" cy="4480560"/>
          </a:xfrm>
          <a:prstGeom prst="rect">
            <a:avLst/>
          </a:prstGeom>
          <a:noFill/>
        </p:spPr>
        <p:txBody>
          <a:bodyPr wrap="square">
            <a:spAutoFit/>
          </a:bodyPr>
          <a:lstStyle/>
          <a:p>
            <a:pPr>
              <a:defRPr sz="1400" b="1">
                <a:solidFill>
                  <a:srgbClr val="F59E0B"/>
                </a:solidFill>
              </a:defRPr>
            </a:pPr>
            <a:r>
              <a:t>THE PROBLEM: THE IoT ATTACK SURFACE</a:t>
            </a:r>
          </a:p>
          <a:p>
            <a:pPr>
              <a:spcBef>
                <a:spcPts val="1400"/>
              </a:spcBef>
            </a:pPr>
            <a:r>
              <a:rPr b="1" sz="1100">
                <a:solidFill>
                  <a:srgbClr val="F8FAFC"/>
                </a:solidFill>
              </a:rPr>
              <a:t>Explosion of Vulnerable IoT Nodes: </a:t>
            </a:r>
            <a:r>
              <a:rPr sz="1100">
                <a:solidFill>
                  <a:srgbClr val="94A3B8"/>
                </a:solidFill>
              </a:rPr>
              <a:t>Over 14 billion connected smart sensors often deploy default credentials, unencrypted telemetry, and unpatched firmware.</a:t>
            </a:r>
          </a:p>
          <a:p>
            <a:pPr>
              <a:spcBef>
                <a:spcPts val="1400"/>
              </a:spcBef>
            </a:pPr>
            <a:r>
              <a:rPr b="1" sz="1100">
                <a:solidFill>
                  <a:srgbClr val="F8FAFC"/>
                </a:solidFill>
              </a:rPr>
              <a:t>Asymmetric Traffic Reality: </a:t>
            </a:r>
            <a:r>
              <a:rPr sz="1100">
                <a:solidFill>
                  <a:srgbClr val="94A3B8"/>
                </a:solidFill>
              </a:rPr>
              <a:t>IoT networks do not mirror enterprise IT. Attack flows (e.g. automated SYN floods, port scans) dwarf normal sensor heartbeats by orders of magnitude.</a:t>
            </a:r>
          </a:p>
          <a:p>
            <a:pPr>
              <a:spcBef>
                <a:spcPts val="1400"/>
              </a:spcBef>
            </a:pPr>
            <a:r>
              <a:rPr b="1" sz="1100">
                <a:solidFill>
                  <a:srgbClr val="F8FAFC"/>
                </a:solidFill>
              </a:rPr>
              <a:t>Naive Data Science Failure: </a:t>
            </a:r>
            <a:r>
              <a:rPr sz="1100">
                <a:solidFill>
                  <a:srgbClr val="94A3B8"/>
                </a:solidFill>
              </a:rPr>
              <a:t>Treating network flow records with textbook Gaussian assumptions or unweighted accuracy yields dangerously biased models and false security confidence.</a:t>
            </a:r>
          </a:p>
        </p:txBody>
      </p:sp>
      <p:sp>
        <p:nvSpPr>
          <p:cNvPr id="7" name="Rounded Rectangle 6"/>
          <p:cNvSpPr/>
          <p:nvPr/>
        </p:nvSpPr>
        <p:spPr>
          <a:xfrm>
            <a:off x="6217920" y="1371600"/>
            <a:ext cx="5242255"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480560"/>
          </a:xfrm>
          <a:prstGeom prst="rect">
            <a:avLst/>
          </a:prstGeom>
          <a:noFill/>
        </p:spPr>
        <p:txBody>
          <a:bodyPr wrap="square">
            <a:spAutoFit/>
          </a:bodyPr>
          <a:lstStyle/>
          <a:p>
            <a:pPr>
              <a:defRPr sz="1400" b="1">
                <a:solidFill>
                  <a:srgbClr val="10B981"/>
                </a:solidFill>
              </a:defRPr>
            </a:pPr>
            <a:r>
              <a:t>RESEARCH OBJECTIVES &amp; DELIVERABLES</a:t>
            </a:r>
          </a:p>
          <a:p>
            <a:pPr>
              <a:spcBef>
                <a:spcPts val="1000"/>
              </a:spcBef>
            </a:pPr>
            <a:r>
              <a:rPr b="1" sz="1100">
                <a:solidFill>
                  <a:srgbClr val="F8FAFC"/>
                </a:solidFill>
              </a:rPr>
              <a:t>1. Empirical Data Audit: </a:t>
            </a:r>
            <a:r>
              <a:rPr sz="1100">
                <a:solidFill>
                  <a:srgbClr val="94A3B8"/>
                </a:solidFill>
              </a:rPr>
              <a:t>Clean 123,117 bidirectional network flows, diagnose extreme class imbalance (3,380:1 ratio), and audit 84 features.</a:t>
            </a:r>
          </a:p>
          <a:p>
            <a:pPr>
              <a:spcBef>
                <a:spcPts val="1000"/>
              </a:spcBef>
            </a:pPr>
            <a:r>
              <a:rPr b="1" sz="1100">
                <a:solidFill>
                  <a:srgbClr val="F8FAFC"/>
                </a:solidFill>
              </a:rPr>
              <a:t>2. 15 Structured Research Questions: </a:t>
            </a:r>
            <a:r>
              <a:rPr sz="1100">
                <a:solidFill>
                  <a:srgbClr val="94A3B8"/>
                </a:solidFill>
              </a:rPr>
              <a:t>Formulate formal null/alternative hypotheses covering protocols, services, flow duration, packet ratios, and flags.</a:t>
            </a:r>
          </a:p>
          <a:p>
            <a:pPr>
              <a:spcBef>
                <a:spcPts val="1000"/>
              </a:spcBef>
            </a:pPr>
            <a:r>
              <a:rPr b="1" sz="1100">
                <a:solidFill>
                  <a:srgbClr val="F8FAFC"/>
                </a:solidFill>
              </a:rPr>
              <a:t>3. Methodological Rigour: </a:t>
            </a:r>
            <a:r>
              <a:rPr sz="1100">
                <a:solidFill>
                  <a:srgbClr val="94A3B8"/>
                </a:solidFill>
              </a:rPr>
              <a:t>Apply non-parametric tests (Kruskal-Wallis, Mann-Whitney U, Spearman rho) and control False Discovery Rate via Benjamini-Hochberg.</a:t>
            </a:r>
          </a:p>
          <a:p>
            <a:pPr>
              <a:spcBef>
                <a:spcPts val="1000"/>
              </a:spcBef>
            </a:pPr>
            <a:r>
              <a:rPr b="1" sz="1100">
                <a:solidFill>
                  <a:srgbClr val="F8FAFC"/>
                </a:solidFill>
              </a:rPr>
              <a:t>4. Supervised ML Benchmark: </a:t>
            </a:r>
            <a:r>
              <a:rPr sz="1100">
                <a:solidFill>
                  <a:srgbClr val="94A3B8"/>
                </a:solidFill>
              </a:rPr>
              <a:t>Train a cost-sensitive Random Forest with leakage-prevention to evaluate true multi-class separability.</a:t>
            </a:r>
          </a:p>
          <a:p>
            <a:pPr>
              <a:spcBef>
                <a:spcPts val="1000"/>
              </a:spcBef>
            </a:pPr>
            <a:r>
              <a:rPr b="1" sz="1100">
                <a:solidFill>
                  <a:srgbClr val="F8FAFC"/>
                </a:solidFill>
              </a:rPr>
              <a:t>5. Full-Stack BI &amp; 3D Web Delivery: </a:t>
            </a:r>
            <a:r>
              <a:rPr sz="1100">
                <a:solidFill>
                  <a:srgbClr val="94A3B8"/>
                </a:solidFill>
              </a:rPr>
              <a:t>Deploy an in-memory DuckDB analytical engine, 3D WebGL dashboard, and 5-page Power BI / Tableau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DATA ENGINEERING</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Dataset Provenance &amp; Experimental Topology</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03 / 12</a:t>
            </a:r>
          </a:p>
        </p:txBody>
      </p:sp>
      <p:sp>
        <p:nvSpPr>
          <p:cNvPr id="5" name="Rounded Rectangle 4"/>
          <p:cNvSpPr/>
          <p:nvPr/>
        </p:nvSpPr>
        <p:spPr>
          <a:xfrm>
            <a:off x="73152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81328"/>
            <a:ext cx="2240280" cy="877824"/>
          </a:xfrm>
          <a:prstGeom prst="rect">
            <a:avLst/>
          </a:prstGeom>
          <a:noFill/>
        </p:spPr>
        <p:txBody>
          <a:bodyPr wrap="square">
            <a:spAutoFit/>
          </a:bodyPr>
          <a:lstStyle/>
          <a:p>
            <a:pPr>
              <a:defRPr sz="2600" b="1">
                <a:solidFill>
                  <a:srgbClr val="06B6D4"/>
                </a:solidFill>
                <a:latin typeface="Calibri"/>
              </a:defRPr>
            </a:pPr>
            <a:r>
              <a:t>123,117</a:t>
            </a:r>
          </a:p>
          <a:p>
            <a:pPr>
              <a:spcBef>
                <a:spcPts val="400"/>
              </a:spcBef>
              <a:defRPr sz="1100" b="1">
                <a:solidFill>
                  <a:srgbClr val="F8FAFC"/>
                </a:solidFill>
                <a:latin typeface="Calibri"/>
              </a:defRPr>
            </a:pPr>
            <a:r>
              <a:t>Total Flow Records</a:t>
            </a:r>
          </a:p>
          <a:p>
            <a:pPr>
              <a:spcBef>
                <a:spcPts val="200"/>
              </a:spcBef>
              <a:defRPr sz="900">
                <a:solidFill>
                  <a:srgbClr val="94A3B8"/>
                </a:solidFill>
                <a:latin typeface="Calibri"/>
              </a:defRPr>
            </a:pPr>
            <a:r>
              <a:t>Bidirectional Zeek Flows</a:t>
            </a:r>
          </a:p>
        </p:txBody>
      </p:sp>
      <p:sp>
        <p:nvSpPr>
          <p:cNvPr id="7" name="Rounded Rectangle 6"/>
          <p:cNvSpPr/>
          <p:nvPr/>
        </p:nvSpPr>
        <p:spPr>
          <a:xfrm>
            <a:off x="342900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481328"/>
            <a:ext cx="2240280" cy="877824"/>
          </a:xfrm>
          <a:prstGeom prst="rect">
            <a:avLst/>
          </a:prstGeom>
          <a:noFill/>
        </p:spPr>
        <p:txBody>
          <a:bodyPr wrap="square">
            <a:spAutoFit/>
          </a:bodyPr>
          <a:lstStyle/>
          <a:p>
            <a:pPr>
              <a:defRPr sz="2600" b="1">
                <a:solidFill>
                  <a:srgbClr val="06B6D4"/>
                </a:solidFill>
                <a:latin typeface="Calibri"/>
              </a:defRPr>
            </a:pPr>
            <a:r>
              <a:t>84</a:t>
            </a:r>
          </a:p>
          <a:p>
            <a:pPr>
              <a:spcBef>
                <a:spcPts val="400"/>
              </a:spcBef>
              <a:defRPr sz="1100" b="1">
                <a:solidFill>
                  <a:srgbClr val="F8FAFC"/>
                </a:solidFill>
                <a:latin typeface="Calibri"/>
              </a:defRPr>
            </a:pPr>
            <a:r>
              <a:t>Cleaned Features</a:t>
            </a:r>
          </a:p>
          <a:p>
            <a:pPr>
              <a:spcBef>
                <a:spcPts val="200"/>
              </a:spcBef>
              <a:defRPr sz="900">
                <a:solidFill>
                  <a:srgbClr val="94A3B8"/>
                </a:solidFill>
                <a:latin typeface="Calibri"/>
              </a:defRPr>
            </a:pPr>
            <a:r>
              <a:t>Temporal, volumetric &amp; flags</a:t>
            </a:r>
          </a:p>
        </p:txBody>
      </p:sp>
      <p:sp>
        <p:nvSpPr>
          <p:cNvPr id="9" name="Rounded Rectangle 8"/>
          <p:cNvSpPr/>
          <p:nvPr/>
        </p:nvSpPr>
        <p:spPr>
          <a:xfrm>
            <a:off x="612648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481328"/>
            <a:ext cx="2240280" cy="877824"/>
          </a:xfrm>
          <a:prstGeom prst="rect">
            <a:avLst/>
          </a:prstGeom>
          <a:noFill/>
        </p:spPr>
        <p:txBody>
          <a:bodyPr wrap="square">
            <a:spAutoFit/>
          </a:bodyPr>
          <a:lstStyle/>
          <a:p>
            <a:pPr>
              <a:defRPr sz="2600" b="1">
                <a:solidFill>
                  <a:srgbClr val="06B6D4"/>
                </a:solidFill>
                <a:latin typeface="Calibri"/>
              </a:defRPr>
            </a:pPr>
            <a:r>
              <a:t>12</a:t>
            </a:r>
          </a:p>
          <a:p>
            <a:pPr>
              <a:spcBef>
                <a:spcPts val="400"/>
              </a:spcBef>
              <a:defRPr sz="1100" b="1">
                <a:solidFill>
                  <a:srgbClr val="F8FAFC"/>
                </a:solidFill>
                <a:latin typeface="Calibri"/>
              </a:defRPr>
            </a:pPr>
            <a:r>
              <a:t>Distinct Classes</a:t>
            </a:r>
          </a:p>
          <a:p>
            <a:pPr>
              <a:spcBef>
                <a:spcPts val="200"/>
              </a:spcBef>
              <a:defRPr sz="900">
                <a:solidFill>
                  <a:srgbClr val="94A3B8"/>
                </a:solidFill>
                <a:latin typeface="Calibri"/>
              </a:defRPr>
            </a:pPr>
            <a:r>
              <a:t>3 Normal IoT, 9 Malicious Attacks</a:t>
            </a:r>
          </a:p>
        </p:txBody>
      </p:sp>
      <p:sp>
        <p:nvSpPr>
          <p:cNvPr id="11" name="Rounded Rectangle 10"/>
          <p:cNvSpPr/>
          <p:nvPr/>
        </p:nvSpPr>
        <p:spPr>
          <a:xfrm>
            <a:off x="8823960" y="1371600"/>
            <a:ext cx="2636215"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481328"/>
            <a:ext cx="2361895" cy="877824"/>
          </a:xfrm>
          <a:prstGeom prst="rect">
            <a:avLst/>
          </a:prstGeom>
          <a:noFill/>
        </p:spPr>
        <p:txBody>
          <a:bodyPr wrap="square">
            <a:spAutoFit/>
          </a:bodyPr>
          <a:lstStyle/>
          <a:p>
            <a:pPr>
              <a:defRPr sz="2600" b="1">
                <a:solidFill>
                  <a:srgbClr val="06B6D4"/>
                </a:solidFill>
                <a:latin typeface="Calibri"/>
              </a:defRPr>
            </a:pPr>
            <a:r>
              <a:t>RT-IOT2022</a:t>
            </a:r>
          </a:p>
          <a:p>
            <a:pPr>
              <a:spcBef>
                <a:spcPts val="400"/>
              </a:spcBef>
              <a:defRPr sz="1100" b="1">
                <a:solidFill>
                  <a:srgbClr val="F8FAFC"/>
                </a:solidFill>
                <a:latin typeface="Calibri"/>
              </a:defRPr>
            </a:pPr>
            <a:r>
              <a:t>Benchmark Testbed</a:t>
            </a:r>
          </a:p>
          <a:p>
            <a:pPr>
              <a:spcBef>
                <a:spcPts val="200"/>
              </a:spcBef>
              <a:defRPr sz="900">
                <a:solidFill>
                  <a:srgbClr val="94A3B8"/>
                </a:solidFill>
                <a:latin typeface="Calibri"/>
              </a:defRPr>
            </a:pPr>
            <a:r>
              <a:t>Captured by Zeek &amp; Argus</a:t>
            </a:r>
          </a:p>
        </p:txBody>
      </p:sp>
      <p:sp>
        <p:nvSpPr>
          <p:cNvPr id="13" name="Rounded Rectangle 12"/>
          <p:cNvSpPr/>
          <p:nvPr/>
        </p:nvSpPr>
        <p:spPr>
          <a:xfrm>
            <a:off x="731520" y="2651760"/>
            <a:ext cx="5120640" cy="356616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754880" cy="3291840"/>
          </a:xfrm>
          <a:prstGeom prst="rect">
            <a:avLst/>
          </a:prstGeom>
          <a:noFill/>
        </p:spPr>
        <p:txBody>
          <a:bodyPr wrap="square">
            <a:spAutoFit/>
          </a:bodyPr>
          <a:lstStyle/>
          <a:p>
            <a:pPr>
              <a:defRPr sz="1300" b="1">
                <a:solidFill>
                  <a:srgbClr val="06B6D4"/>
                </a:solidFill>
              </a:defRPr>
            </a:pPr>
            <a:r>
              <a:t>TESTBED PHYSICAL &amp; VIRTUAL TOPOLOGY</a:t>
            </a:r>
          </a:p>
          <a:p>
            <a:pPr>
              <a:spcBef>
                <a:spcPts val="800"/>
              </a:spcBef>
            </a:pPr>
            <a:r>
              <a:rPr b="1" sz="1050">
                <a:solidFill>
                  <a:srgbClr val="F8FAFC"/>
                </a:solidFill>
              </a:rPr>
              <a:t>Wipro Smart LED Bulb: </a:t>
            </a:r>
            <a:r>
              <a:rPr sz="1050">
                <a:solidFill>
                  <a:srgbClr val="94A3B8"/>
                </a:solidFill>
              </a:rPr>
              <a:t>Generates real-time WiFi smart-home actuation events.</a:t>
            </a:r>
          </a:p>
          <a:p>
            <a:pPr>
              <a:spcBef>
                <a:spcPts val="800"/>
              </a:spcBef>
            </a:pPr>
            <a:r>
              <a:rPr b="1" sz="1050">
                <a:solidFill>
                  <a:srgbClr val="F8FAFC"/>
                </a:solidFill>
              </a:rPr>
              <a:t>ThingSpeak Weather Station: </a:t>
            </a:r>
            <a:r>
              <a:rPr sz="1050">
                <a:solidFill>
                  <a:srgbClr val="94A3B8"/>
                </a:solidFill>
              </a:rPr>
              <a:t>Sends periodic telemetry updates (Temperature, Humidity) over HTTP/REST.</a:t>
            </a:r>
          </a:p>
          <a:p>
            <a:pPr>
              <a:spcBef>
                <a:spcPts val="800"/>
              </a:spcBef>
            </a:pPr>
            <a:r>
              <a:rPr b="1" sz="1050">
                <a:solidFill>
                  <a:srgbClr val="F8FAFC"/>
                </a:solidFill>
              </a:rPr>
              <a:t>MQTT Broker (Mosquitto): </a:t>
            </a:r>
            <a:r>
              <a:rPr sz="1050">
                <a:solidFill>
                  <a:srgbClr val="94A3B8"/>
                </a:solidFill>
              </a:rPr>
              <a:t>Subscribes and publishes lightweight IoT broker telemetry payloads.</a:t>
            </a:r>
          </a:p>
          <a:p>
            <a:pPr>
              <a:spcBef>
                <a:spcPts val="800"/>
              </a:spcBef>
            </a:pPr>
            <a:r>
              <a:rPr b="1" sz="1050">
                <a:solidFill>
                  <a:srgbClr val="F8FAFC"/>
                </a:solidFill>
              </a:rPr>
              <a:t>Zeek Network Security Monitor: </a:t>
            </a:r>
            <a:r>
              <a:rPr sz="1050">
                <a:solidFill>
                  <a:srgbClr val="94A3B8"/>
                </a:solidFill>
              </a:rPr>
              <a:t>Extracts bidirectional session flow state, timing intervals, and TCP flag histograms.</a:t>
            </a:r>
          </a:p>
        </p:txBody>
      </p:sp>
      <p:sp>
        <p:nvSpPr>
          <p:cNvPr id="15" name="Rounded Rectangle 14"/>
          <p:cNvSpPr/>
          <p:nvPr/>
        </p:nvSpPr>
        <p:spPr>
          <a:xfrm>
            <a:off x="6217920" y="2651760"/>
            <a:ext cx="5242255" cy="356616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788920"/>
            <a:ext cx="4846320" cy="3291840"/>
          </a:xfrm>
          <a:prstGeom prst="rect">
            <a:avLst/>
          </a:prstGeom>
          <a:noFill/>
        </p:spPr>
        <p:txBody>
          <a:bodyPr wrap="square">
            <a:spAutoFit/>
          </a:bodyPr>
          <a:lstStyle/>
          <a:p>
            <a:pPr>
              <a:defRPr sz="1300" b="1">
                <a:solidFill>
                  <a:srgbClr val="F59E0B"/>
                </a:solidFill>
              </a:defRPr>
            </a:pPr>
            <a:r>
              <a:t>ATTACK EMULATION VECTORS</a:t>
            </a:r>
          </a:p>
          <a:p>
            <a:pPr>
              <a:spcBef>
                <a:spcPts val="800"/>
              </a:spcBef>
            </a:pPr>
            <a:r>
              <a:rPr b="1" sz="1050">
                <a:solidFill>
                  <a:srgbClr val="F8FAFC"/>
                </a:solidFill>
              </a:rPr>
              <a:t>Denial of Service (DoS): </a:t>
            </a:r>
            <a:r>
              <a:rPr sz="1050">
                <a:solidFill>
                  <a:srgbClr val="94A3B8"/>
                </a:solidFill>
              </a:rPr>
              <a:t>Hping3 SYN floods and Slowloris HTTP keep-alive exhaustion.</a:t>
            </a:r>
          </a:p>
          <a:p>
            <a:pPr>
              <a:spcBef>
                <a:spcPts val="800"/>
              </a:spcBef>
            </a:pPr>
            <a:r>
              <a:rPr b="1" sz="1050">
                <a:solidFill>
                  <a:srgbClr val="F8FAFC"/>
                </a:solidFill>
              </a:rPr>
              <a:t>Distributed Denial of Service (DDoS): </a:t>
            </a:r>
            <a:r>
              <a:rPr sz="1050">
                <a:solidFill>
                  <a:srgbClr val="94A3B8"/>
                </a:solidFill>
              </a:rPr>
              <a:t>Coordinated TCP/UDP volumetric floods from distributed attack nodes.</a:t>
            </a:r>
          </a:p>
          <a:p>
            <a:pPr>
              <a:spcBef>
                <a:spcPts val="800"/>
              </a:spcBef>
            </a:pPr>
            <a:r>
              <a:rPr b="1" sz="1050">
                <a:solidFill>
                  <a:srgbClr val="F8FAFC"/>
                </a:solidFill>
              </a:rPr>
              <a:t>Active Reconnaissance: </a:t>
            </a:r>
            <a:r>
              <a:rPr sz="1050">
                <a:solidFill>
                  <a:srgbClr val="94A3B8"/>
                </a:solidFill>
              </a:rPr>
              <a:t>Nmap sweeps (OS fingerprinting, SYN stealth, FIN scan, XMAS tree scan).</a:t>
            </a:r>
          </a:p>
          <a:p>
            <a:pPr>
              <a:spcBef>
                <a:spcPts val="800"/>
              </a:spcBef>
            </a:pPr>
            <a:r>
              <a:rPr b="1" sz="1050">
                <a:solidFill>
                  <a:srgbClr val="F8FAFC"/>
                </a:solidFill>
              </a:rPr>
              <a:t>Man-in-the-Middle (MitM): </a:t>
            </a:r>
            <a:r>
              <a:rPr sz="1050">
                <a:solidFill>
                  <a:srgbClr val="94A3B8"/>
                </a:solidFill>
              </a:rPr>
              <a:t>ARP poisoning targeting local subnet gateway interfaces.</a:t>
            </a:r>
          </a:p>
          <a:p>
            <a:pPr>
              <a:spcBef>
                <a:spcPts val="800"/>
              </a:spcBef>
            </a:pPr>
            <a:r>
              <a:rPr b="1" sz="1050">
                <a:solidFill>
                  <a:srgbClr val="F8FAFC"/>
                </a:solidFill>
              </a:rPr>
              <a:t>Service Exploitation: </a:t>
            </a:r>
            <a:r>
              <a:rPr sz="1050">
                <a:solidFill>
                  <a:srgbClr val="94A3B8"/>
                </a:solidFill>
              </a:rPr>
              <a:t>Metasploit payloads and SSH dictionary brute-force intrusions.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DATA HYGIENE &amp; VALIDATION</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Data Preprocessing Choices &amp; Quality Audit</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04 / 12</a:t>
            </a:r>
          </a:p>
        </p:txBody>
      </p:sp>
      <p:sp>
        <p:nvSpPr>
          <p:cNvPr id="5" name="Rounded Rectangle 4"/>
          <p:cNvSpPr/>
          <p:nvPr/>
        </p:nvSpPr>
        <p:spPr>
          <a:xfrm>
            <a:off x="731520" y="1371600"/>
            <a:ext cx="333756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2971800" cy="4480560"/>
          </a:xfrm>
          <a:prstGeom prst="rect">
            <a:avLst/>
          </a:prstGeom>
          <a:noFill/>
        </p:spPr>
        <p:txBody>
          <a:bodyPr wrap="square">
            <a:spAutoFit/>
          </a:bodyPr>
          <a:lstStyle/>
          <a:p>
            <a:pPr>
              <a:defRPr sz="1300" b="1">
                <a:solidFill>
                  <a:srgbClr val="06B6D4"/>
                </a:solidFill>
              </a:defRPr>
            </a:pPr>
            <a:r>
              <a:t>INTEGRITY AUDIT</a:t>
            </a:r>
          </a:p>
          <a:p>
            <a:pPr>
              <a:spcBef>
                <a:spcPts val="1200"/>
              </a:spcBef>
              <a:defRPr b="1" sz="1100">
                <a:solidFill>
                  <a:srgbClr val="F8FAFC"/>
                </a:solidFill>
              </a:defRPr>
            </a:pPr>
            <a:r>
              <a:t>Missing Values: 0</a:t>
            </a:r>
          </a:p>
          <a:p>
            <a:pPr>
              <a:defRPr sz="1000">
                <a:solidFill>
                  <a:srgbClr val="94A3B8"/>
                </a:solidFill>
              </a:defRPr>
            </a:pPr>
            <a:r>
              <a:t>All 123,117 rows have complete network readings across 84 attributes.</a:t>
            </a:r>
          </a:p>
          <a:p>
            <a:pPr>
              <a:spcBef>
                <a:spcPts val="1200"/>
              </a:spcBef>
              <a:defRPr b="1" sz="1100">
                <a:solidFill>
                  <a:srgbClr val="F8FAFC"/>
                </a:solidFill>
              </a:defRPr>
            </a:pPr>
            <a:r>
              <a:t>Full Duplicate Rows: 0</a:t>
            </a:r>
          </a:p>
          <a:p>
            <a:pPr>
              <a:defRPr sz="1000">
                <a:solidFill>
                  <a:srgbClr val="94A3B8"/>
                </a:solidFill>
              </a:defRPr>
            </a:pPr>
            <a:r>
              <a:t>No identical duplicate rows existed in the raw dataset.</a:t>
            </a:r>
          </a:p>
          <a:p>
            <a:pPr>
              <a:spcBef>
                <a:spcPts val="1200"/>
              </a:spcBef>
              <a:defRPr b="1" sz="1100">
                <a:solidFill>
                  <a:srgbClr val="F8FAFC"/>
                </a:solidFill>
              </a:defRPr>
            </a:pPr>
            <a:r>
              <a:t>Feature Repeats: 1,180</a:t>
            </a:r>
          </a:p>
          <a:p>
            <a:pPr>
              <a:defRPr sz="1000">
                <a:solidFill>
                  <a:srgbClr val="94A3B8"/>
                </a:solidFill>
              </a:defRPr>
            </a:pPr>
            <a:r>
              <a:t>1,180 records shared identical feature tuples across different labels. These were retained to reflect genuine IoT packet bursts.</a:t>
            </a:r>
          </a:p>
        </p:txBody>
      </p:sp>
      <p:sp>
        <p:nvSpPr>
          <p:cNvPr id="7" name="Rounded Rectangle 6"/>
          <p:cNvSpPr/>
          <p:nvPr/>
        </p:nvSpPr>
        <p:spPr>
          <a:xfrm>
            <a:off x="4425696" y="1371600"/>
            <a:ext cx="333756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554480"/>
            <a:ext cx="2971800" cy="4480560"/>
          </a:xfrm>
          <a:prstGeom prst="rect">
            <a:avLst/>
          </a:prstGeom>
          <a:noFill/>
        </p:spPr>
        <p:txBody>
          <a:bodyPr wrap="square">
            <a:spAutoFit/>
          </a:bodyPr>
          <a:lstStyle/>
          <a:p>
            <a:pPr>
              <a:defRPr sz="1300" b="1">
                <a:solidFill>
                  <a:srgbClr val="10B981"/>
                </a:solidFill>
              </a:defRPr>
            </a:pPr>
            <a:r>
              <a:t>PREPROCESSING CHOICES</a:t>
            </a:r>
          </a:p>
          <a:p>
            <a:pPr>
              <a:spcBef>
                <a:spcPts val="1200"/>
              </a:spcBef>
              <a:defRPr b="1" sz="1100">
                <a:solidFill>
                  <a:srgbClr val="F8FAFC"/>
                </a:solidFill>
              </a:defRPr>
            </a:pPr>
            <a:r>
              <a:t>Index Column Removal</a:t>
            </a:r>
          </a:p>
          <a:p>
            <a:pPr>
              <a:defRPr sz="1000">
                <a:solidFill>
                  <a:srgbClr val="94A3B8"/>
                </a:solidFill>
              </a:defRPr>
            </a:pPr>
            <a:r>
              <a:t>The raw column `Unnamed: 0` was an artifact of CSV export, carrying no network measurement, and was immediately dropped.</a:t>
            </a:r>
          </a:p>
          <a:p>
            <a:pPr>
              <a:spcBef>
                <a:spcPts val="1200"/>
              </a:spcBef>
              <a:defRPr b="1" sz="1100">
                <a:solidFill>
                  <a:srgbClr val="F8FAFC"/>
                </a:solidFill>
              </a:defRPr>
            </a:pPr>
            <a:r>
              <a:t>Whitespace Normalization</a:t>
            </a:r>
          </a:p>
          <a:p>
            <a:pPr>
              <a:defRPr sz="1000">
                <a:solidFill>
                  <a:srgbClr val="94A3B8"/>
                </a:solidFill>
              </a:defRPr>
            </a:pPr>
            <a:r>
              <a:t>All column headers and categorical string labels were stripped of whitespace.</a:t>
            </a:r>
          </a:p>
          <a:p>
            <a:pPr>
              <a:spcBef>
                <a:spcPts val="1200"/>
              </a:spcBef>
              <a:defRPr b="1" sz="1100">
                <a:solidFill>
                  <a:srgbClr val="F8FAFC"/>
                </a:solidFill>
              </a:defRPr>
            </a:pPr>
            <a:r>
              <a:t>Data Type Conversion</a:t>
            </a:r>
          </a:p>
          <a:p>
            <a:pPr>
              <a:defRPr sz="1000">
                <a:solidFill>
                  <a:srgbClr val="94A3B8"/>
                </a:solidFill>
              </a:defRPr>
            </a:pPr>
            <a:r>
              <a:t>Object columns parsed as numeric if &gt;= 98% parsed successfully without corruption.</a:t>
            </a:r>
          </a:p>
        </p:txBody>
      </p:sp>
      <p:sp>
        <p:nvSpPr>
          <p:cNvPr id="9" name="Rounded Rectangle 8"/>
          <p:cNvSpPr/>
          <p:nvPr/>
        </p:nvSpPr>
        <p:spPr>
          <a:xfrm>
            <a:off x="8119872" y="1371600"/>
            <a:ext cx="333756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554480"/>
            <a:ext cx="2971800" cy="4480560"/>
          </a:xfrm>
          <a:prstGeom prst="rect">
            <a:avLst/>
          </a:prstGeom>
          <a:noFill/>
        </p:spPr>
        <p:txBody>
          <a:bodyPr wrap="square">
            <a:spAutoFit/>
          </a:bodyPr>
          <a:lstStyle/>
          <a:p>
            <a:pPr>
              <a:defRPr sz="1300" b="1">
                <a:solidFill>
                  <a:srgbClr val="F59E0B"/>
                </a:solidFill>
              </a:defRPr>
            </a:pPr>
            <a:r>
              <a:t>LEAKAGE &amp; OUTLIERS</a:t>
            </a:r>
          </a:p>
          <a:p>
            <a:pPr>
              <a:spcBef>
                <a:spcPts val="1200"/>
              </a:spcBef>
              <a:defRPr b="1" sz="1100">
                <a:solidFill>
                  <a:srgbClr val="F8FAFC"/>
                </a:solidFill>
              </a:defRPr>
            </a:pPr>
            <a:r>
              <a:t>Port Number Dropping</a:t>
            </a:r>
          </a:p>
          <a:p>
            <a:pPr>
              <a:defRPr sz="1000">
                <a:solidFill>
                  <a:srgbClr val="94A3B8"/>
                </a:solidFill>
              </a:defRPr>
            </a:pPr>
            <a:r>
              <a:t>Network port fields (`id.orig_p`, `id.resp_p`) were removed from ML features to prevent models from memorizing attack port signatures.</a:t>
            </a:r>
          </a:p>
          <a:p>
            <a:pPr>
              <a:spcBef>
                <a:spcPts val="1200"/>
              </a:spcBef>
              <a:defRPr b="1" sz="1100">
                <a:solidFill>
                  <a:srgbClr val="F8FAFC"/>
                </a:solidFill>
              </a:defRPr>
            </a:pPr>
            <a:r>
              <a:t>Tukey 1.5x IQR Fencing</a:t>
            </a:r>
          </a:p>
          <a:p>
            <a:pPr>
              <a:defRPr sz="1000">
                <a:solidFill>
                  <a:srgbClr val="94A3B8"/>
                </a:solidFill>
              </a:defRPr>
            </a:pPr>
            <a:r>
              <a:t>Evaluated all 81 continuous features; identified high outlier rates in packet rate (53.3%) and payload bytes (28.4%).</a:t>
            </a:r>
          </a:p>
          <a:p>
            <a:pPr>
              <a:spcBef>
                <a:spcPts val="1200"/>
              </a:spcBef>
              <a:defRPr b="1" sz="1100">
                <a:solidFill>
                  <a:srgbClr val="F8FAFC"/>
                </a:solidFill>
              </a:defRPr>
            </a:pPr>
            <a:r>
              <a:t>Non-Destructive Policy</a:t>
            </a:r>
          </a:p>
          <a:p>
            <a:pPr>
              <a:defRPr sz="1000">
                <a:solidFill>
                  <a:srgbClr val="94A3B8"/>
                </a:solidFill>
              </a:defRPr>
            </a:pPr>
            <a:r>
              <a:t>Outliers reflect genuine denial-of-service volumetric spikes and were preserved rather than clipped.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EMPIRICAL BASELINE</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Exploratory Data Analysis: Class Imbalance &amp; Skewness</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05 / 12</a:t>
            </a:r>
          </a:p>
        </p:txBody>
      </p:sp>
      <p:sp>
        <p:nvSpPr>
          <p:cNvPr id="5" name="Rounded Rectangle 4"/>
          <p:cNvSpPr/>
          <p:nvPr/>
        </p:nvSpPr>
        <p:spPr>
          <a:xfrm>
            <a:off x="73152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81328"/>
            <a:ext cx="2240280" cy="877824"/>
          </a:xfrm>
          <a:prstGeom prst="rect">
            <a:avLst/>
          </a:prstGeom>
          <a:noFill/>
        </p:spPr>
        <p:txBody>
          <a:bodyPr wrap="square">
            <a:spAutoFit/>
          </a:bodyPr>
          <a:lstStyle/>
          <a:p>
            <a:pPr>
              <a:defRPr sz="2600" b="1">
                <a:solidFill>
                  <a:srgbClr val="F59E0B"/>
                </a:solidFill>
                <a:latin typeface="Calibri"/>
              </a:defRPr>
            </a:pPr>
            <a:r>
              <a:t>89.84%</a:t>
            </a:r>
          </a:p>
          <a:p>
            <a:pPr>
              <a:spcBef>
                <a:spcPts val="400"/>
              </a:spcBef>
              <a:defRPr sz="1100" b="1">
                <a:solidFill>
                  <a:srgbClr val="F8FAFC"/>
                </a:solidFill>
                <a:latin typeface="Calibri"/>
              </a:defRPr>
            </a:pPr>
            <a:r>
              <a:t>Malicious Traffic Share</a:t>
            </a:r>
          </a:p>
          <a:p>
            <a:pPr>
              <a:spcBef>
                <a:spcPts val="200"/>
              </a:spcBef>
              <a:defRPr sz="900">
                <a:solidFill>
                  <a:srgbClr val="94A3B8"/>
                </a:solidFill>
                <a:latin typeface="Calibri"/>
              </a:defRPr>
            </a:pPr>
            <a:r>
              <a:t>110,610 attack flows</a:t>
            </a:r>
          </a:p>
        </p:txBody>
      </p:sp>
      <p:sp>
        <p:nvSpPr>
          <p:cNvPr id="7" name="Rounded Rectangle 6"/>
          <p:cNvSpPr/>
          <p:nvPr/>
        </p:nvSpPr>
        <p:spPr>
          <a:xfrm>
            <a:off x="342900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481328"/>
            <a:ext cx="2240280" cy="877824"/>
          </a:xfrm>
          <a:prstGeom prst="rect">
            <a:avLst/>
          </a:prstGeom>
          <a:noFill/>
        </p:spPr>
        <p:txBody>
          <a:bodyPr wrap="square">
            <a:spAutoFit/>
          </a:bodyPr>
          <a:lstStyle/>
          <a:p>
            <a:pPr>
              <a:defRPr sz="2600" b="1">
                <a:solidFill>
                  <a:srgbClr val="10B981"/>
                </a:solidFill>
                <a:latin typeface="Calibri"/>
              </a:defRPr>
            </a:pPr>
            <a:r>
              <a:t>10.16%</a:t>
            </a:r>
          </a:p>
          <a:p>
            <a:pPr>
              <a:spcBef>
                <a:spcPts val="400"/>
              </a:spcBef>
              <a:defRPr sz="1100" b="1">
                <a:solidFill>
                  <a:srgbClr val="F8FAFC"/>
                </a:solidFill>
                <a:latin typeface="Calibri"/>
              </a:defRPr>
            </a:pPr>
            <a:r>
              <a:t>Normal Traffic Share</a:t>
            </a:r>
          </a:p>
          <a:p>
            <a:pPr>
              <a:spcBef>
                <a:spcPts val="200"/>
              </a:spcBef>
              <a:defRPr sz="900">
                <a:solidFill>
                  <a:srgbClr val="94A3B8"/>
                </a:solidFill>
                <a:latin typeface="Calibri"/>
              </a:defRPr>
            </a:pPr>
            <a:r>
              <a:t>12,507 benign device flows</a:t>
            </a:r>
          </a:p>
        </p:txBody>
      </p:sp>
      <p:sp>
        <p:nvSpPr>
          <p:cNvPr id="9" name="Rounded Rectangle 8"/>
          <p:cNvSpPr/>
          <p:nvPr/>
        </p:nvSpPr>
        <p:spPr>
          <a:xfrm>
            <a:off x="612648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481328"/>
            <a:ext cx="2240280" cy="877824"/>
          </a:xfrm>
          <a:prstGeom prst="rect">
            <a:avLst/>
          </a:prstGeom>
          <a:noFill/>
        </p:spPr>
        <p:txBody>
          <a:bodyPr wrap="square">
            <a:spAutoFit/>
          </a:bodyPr>
          <a:lstStyle/>
          <a:p>
            <a:pPr>
              <a:defRPr sz="2600" b="1">
                <a:solidFill>
                  <a:srgbClr val="06B6D4"/>
                </a:solidFill>
                <a:latin typeface="Calibri"/>
              </a:defRPr>
            </a:pPr>
            <a:r>
              <a:t>3,380 : 1</a:t>
            </a:r>
          </a:p>
          <a:p>
            <a:pPr>
              <a:spcBef>
                <a:spcPts val="400"/>
              </a:spcBef>
              <a:defRPr sz="1100" b="1">
                <a:solidFill>
                  <a:srgbClr val="F8FAFC"/>
                </a:solidFill>
                <a:latin typeface="Calibri"/>
              </a:defRPr>
            </a:pPr>
            <a:r>
              <a:t>Extreme Imbalance Ratio</a:t>
            </a:r>
          </a:p>
          <a:p>
            <a:pPr>
              <a:spcBef>
                <a:spcPts val="200"/>
              </a:spcBef>
              <a:defRPr sz="900">
                <a:solidFill>
                  <a:srgbClr val="94A3B8"/>
                </a:solidFill>
                <a:latin typeface="Calibri"/>
              </a:defRPr>
            </a:pPr>
            <a:r>
              <a:t>DOS_SYN_Hping vs NMAP_FIN</a:t>
            </a:r>
          </a:p>
        </p:txBody>
      </p:sp>
      <p:sp>
        <p:nvSpPr>
          <p:cNvPr id="11" name="Rounded Rectangle 10"/>
          <p:cNvSpPr/>
          <p:nvPr/>
        </p:nvSpPr>
        <p:spPr>
          <a:xfrm>
            <a:off x="8823960" y="1371600"/>
            <a:ext cx="2636215"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481328"/>
            <a:ext cx="2361895" cy="877824"/>
          </a:xfrm>
          <a:prstGeom prst="rect">
            <a:avLst/>
          </a:prstGeom>
          <a:noFill/>
        </p:spPr>
        <p:txBody>
          <a:bodyPr wrap="square">
            <a:spAutoFit/>
          </a:bodyPr>
          <a:lstStyle/>
          <a:p>
            <a:pPr>
              <a:defRPr sz="2600" b="1">
                <a:solidFill>
                  <a:srgbClr val="F8FAFC"/>
                </a:solidFill>
                <a:latin typeface="Calibri"/>
              </a:defRPr>
            </a:pPr>
            <a:r>
              <a:t>89.69%</a:t>
            </a:r>
          </a:p>
          <a:p>
            <a:pPr>
              <a:spcBef>
                <a:spcPts val="400"/>
              </a:spcBef>
              <a:defRPr sz="1100" b="1">
                <a:solidFill>
                  <a:srgbClr val="F8FAFC"/>
                </a:solidFill>
                <a:latin typeface="Calibri"/>
              </a:defRPr>
            </a:pPr>
            <a:r>
              <a:t>TCP Protocol Dominance</a:t>
            </a:r>
          </a:p>
          <a:p>
            <a:pPr>
              <a:spcBef>
                <a:spcPts val="200"/>
              </a:spcBef>
              <a:defRPr sz="900">
                <a:solidFill>
                  <a:srgbClr val="94A3B8"/>
                </a:solidFill>
                <a:latin typeface="Calibri"/>
              </a:defRPr>
            </a:pPr>
            <a:r>
              <a:t>110,427 TCP sessions</a:t>
            </a:r>
          </a:p>
        </p:txBody>
      </p:sp>
      <p:sp>
        <p:nvSpPr>
          <p:cNvPr id="13" name="Rounded Rectangle 12"/>
          <p:cNvSpPr/>
          <p:nvPr/>
        </p:nvSpPr>
        <p:spPr>
          <a:xfrm>
            <a:off x="731520" y="2651760"/>
            <a:ext cx="6217920" cy="356616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5852160" cy="3291840"/>
          </a:xfrm>
          <a:prstGeom prst="rect">
            <a:avLst/>
          </a:prstGeom>
          <a:noFill/>
        </p:spPr>
        <p:txBody>
          <a:bodyPr wrap="square">
            <a:spAutoFit/>
          </a:bodyPr>
          <a:lstStyle/>
          <a:p>
            <a:pPr>
              <a:defRPr sz="1200" b="1">
                <a:solidFill>
                  <a:srgbClr val="06B6D4"/>
                </a:solidFill>
              </a:defRPr>
            </a:pPr>
            <a:r>
              <a:t>ATTACK &amp; BENIGN CLASS DISTRIBUTION (TABLE)</a:t>
            </a:r>
          </a:p>
          <a:p>
            <a:pPr>
              <a:spcBef>
                <a:spcPts val="300"/>
              </a:spcBef>
              <a:defRPr sz="950">
                <a:solidFill>
                  <a:srgbClr val="94A3B8"/>
                </a:solidFill>
                <a:latin typeface="Consolas"/>
              </a:defRPr>
            </a:pPr>
            <a:r>
              <a:t>DOS_SYN_Hping     |  94,659  |  76.89%  |  Malicious (SYN Flood)</a:t>
            </a:r>
          </a:p>
          <a:p>
            <a:pPr>
              <a:spcBef>
                <a:spcPts val="300"/>
              </a:spcBef>
              <a:defRPr sz="950">
                <a:solidFill>
                  <a:srgbClr val="F8FAFC"/>
                </a:solidFill>
                <a:latin typeface="Consolas"/>
              </a:defRPr>
            </a:pPr>
            <a:r>
              <a:t>Thing_Speak       |   8,108  |   6.59%  |  Normal (Sensor Telemetry)</a:t>
            </a:r>
          </a:p>
          <a:p>
            <a:pPr>
              <a:spcBef>
                <a:spcPts val="300"/>
              </a:spcBef>
              <a:defRPr sz="950">
                <a:solidFill>
                  <a:srgbClr val="94A3B8"/>
                </a:solidFill>
                <a:latin typeface="Consolas"/>
              </a:defRPr>
            </a:pPr>
            <a:r>
              <a:t>ARP_poisioning    |   7,750  |   6.30%  |  Malicious (MitM Spoofing)</a:t>
            </a:r>
          </a:p>
          <a:p>
            <a:pPr>
              <a:spcBef>
                <a:spcPts val="300"/>
              </a:spcBef>
              <a:defRPr sz="950">
                <a:solidFill>
                  <a:srgbClr val="F8FAFC"/>
                </a:solidFill>
                <a:latin typeface="Consolas"/>
              </a:defRPr>
            </a:pPr>
            <a:r>
              <a:t>MQTT_Publish      |   4,146  |   3.37%  |  Normal (Broker Messages)</a:t>
            </a:r>
          </a:p>
          <a:p>
            <a:pPr>
              <a:spcBef>
                <a:spcPts val="300"/>
              </a:spcBef>
              <a:defRPr sz="950">
                <a:solidFill>
                  <a:srgbClr val="94A3B8"/>
                </a:solidFill>
                <a:latin typeface="Consolas"/>
              </a:defRPr>
            </a:pPr>
            <a:r>
              <a:t>NMAP_UDP_SCAN     |   2,590  |   2.10%  |  Malicious (Port Sweep)</a:t>
            </a:r>
          </a:p>
          <a:p>
            <a:pPr>
              <a:spcBef>
                <a:spcPts val="300"/>
              </a:spcBef>
              <a:defRPr sz="950">
                <a:solidFill>
                  <a:srgbClr val="94A3B8"/>
                </a:solidFill>
                <a:latin typeface="Consolas"/>
              </a:defRPr>
            </a:pPr>
            <a:r>
              <a:t>NMAP_XMAS_TREE    |   2,010  |   1.63%  |  Malicious (Reconnaissance)</a:t>
            </a:r>
          </a:p>
          <a:p>
            <a:pPr>
              <a:spcBef>
                <a:spcPts val="300"/>
              </a:spcBef>
              <a:defRPr sz="950">
                <a:solidFill>
                  <a:srgbClr val="F8FAFC"/>
                </a:solidFill>
                <a:latin typeface="Consolas"/>
              </a:defRPr>
            </a:pPr>
            <a:r>
              <a:t>Wipro_bulb        |     253  |   0.21%  |  Normal (Smart Lighting)</a:t>
            </a:r>
          </a:p>
          <a:p>
            <a:pPr>
              <a:spcBef>
                <a:spcPts val="300"/>
              </a:spcBef>
              <a:defRPr sz="950">
                <a:solidFill>
                  <a:srgbClr val="94A3B8"/>
                </a:solidFill>
                <a:latin typeface="Consolas"/>
              </a:defRPr>
            </a:pPr>
            <a:r>
              <a:t>NMAP_FIN_SCAN     |      28  |   0.02%  |  Malicious (Minority Label)</a:t>
            </a:r>
          </a:p>
        </p:txBody>
      </p:sp>
      <p:sp>
        <p:nvSpPr>
          <p:cNvPr id="15" name="Rounded Rectangle 14"/>
          <p:cNvSpPr/>
          <p:nvPr/>
        </p:nvSpPr>
        <p:spPr>
          <a:xfrm>
            <a:off x="7132320" y="2651760"/>
            <a:ext cx="4327855" cy="356616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2788920"/>
            <a:ext cx="3931920" cy="3291840"/>
          </a:xfrm>
          <a:prstGeom prst="rect">
            <a:avLst/>
          </a:prstGeom>
          <a:noFill/>
        </p:spPr>
        <p:txBody>
          <a:bodyPr wrap="square">
            <a:spAutoFit/>
          </a:bodyPr>
          <a:lstStyle/>
          <a:p>
            <a:pPr>
              <a:defRPr sz="1200" b="1">
                <a:solidFill>
                  <a:srgbClr val="F59E0B"/>
                </a:solidFill>
              </a:defRPr>
            </a:pPr>
            <a:r>
              <a:t>STATISTICAL &amp; MODEL IMPLICATIONS</a:t>
            </a:r>
          </a:p>
          <a:p>
            <a:pPr>
              <a:spcBef>
                <a:spcPts val="1000"/>
              </a:spcBef>
            </a:pPr>
            <a:r>
              <a:rPr b="1" sz="1050">
                <a:solidFill>
                  <a:srgbClr val="F8FAFC"/>
                </a:solidFill>
              </a:rPr>
              <a:t>Accuracy Paradox: </a:t>
            </a:r>
            <a:r>
              <a:rPr sz="1000">
                <a:solidFill>
                  <a:srgbClr val="94A3B8"/>
                </a:solidFill>
              </a:rPr>
              <a:t>A naive model predicting purely 'DOS_SYN_Hping' achieves 76.89% raw accuracy while completely missing all IoT attacks and normal devices.</a:t>
            </a:r>
          </a:p>
          <a:p>
            <a:pPr>
              <a:spcBef>
                <a:spcPts val="1000"/>
              </a:spcBef>
            </a:pPr>
            <a:r>
              <a:rPr b="1" sz="1050">
                <a:solidFill>
                  <a:srgbClr val="F8FAFC"/>
                </a:solidFill>
              </a:rPr>
              <a:t>Non-Gaussian Distributions: </a:t>
            </a:r>
            <a:r>
              <a:rPr sz="1000">
                <a:solidFill>
                  <a:srgbClr val="94A3B8"/>
                </a:solidFill>
              </a:rPr>
              <a:t>Flow durations, packet counts, and byte rates exhibit severe right-skewness and zero-inflation, invalidating standard Student's t-tests.</a:t>
            </a:r>
          </a:p>
          <a:p>
            <a:pPr>
              <a:spcBef>
                <a:spcPts val="1000"/>
              </a:spcBef>
            </a:pPr>
            <a:r>
              <a:rPr b="1" sz="1050">
                <a:solidFill>
                  <a:srgbClr val="F8FAFC"/>
                </a:solidFill>
              </a:rPr>
              <a:t>Rank-Based Necessity: </a:t>
            </a:r>
            <a:r>
              <a:rPr sz="1000">
                <a:solidFill>
                  <a:srgbClr val="94A3B8"/>
                </a:solidFill>
              </a:rPr>
              <a:t>All hypothesis testing must utilize non-parametric rank tests (Kruskal-Wallis, Mann-Whitney U, Spearman rho).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INFERENTIAL STATISTICS</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Hypothesis Testing Battery: 15 Research Questions</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06 / 12</a:t>
            </a:r>
          </a:p>
        </p:txBody>
      </p:sp>
      <p:sp>
        <p:nvSpPr>
          <p:cNvPr id="5" name="Rounded Rectangle 4"/>
          <p:cNvSpPr/>
          <p:nvPr/>
        </p:nvSpPr>
        <p:spPr>
          <a:xfrm>
            <a:off x="731520" y="1371600"/>
            <a:ext cx="10728655"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10332720" cy="4572000"/>
          </a:xfrm>
          <a:prstGeom prst="rect">
            <a:avLst/>
          </a:prstGeom>
          <a:noFill/>
        </p:spPr>
        <p:txBody>
          <a:bodyPr wrap="square">
            <a:spAutoFit/>
          </a:bodyPr>
          <a:lstStyle/>
          <a:p>
            <a:pPr>
              <a:defRPr sz="1300" b="1">
                <a:solidFill>
                  <a:srgbClr val="10B981"/>
                </a:solidFill>
              </a:defRPr>
            </a:pPr>
            <a:r>
              <a:t>FORMAL INFERENTIAL TESTS &amp; BENJAMINI-HOCHBERG FDR ADJUSTMENT</a:t>
            </a:r>
          </a:p>
          <a:p>
            <a:pPr>
              <a:spcBef>
                <a:spcPts val="400"/>
              </a:spcBef>
              <a:defRPr sz="950" b="1">
                <a:solidFill>
                  <a:srgbClr val="06B6D4"/>
                </a:solidFill>
                <a:latin typeface="Consolas"/>
              </a:defRPr>
            </a:pPr>
            <a:r>
              <a:t>Question / Topic             | Statistical Test   | Test Statistic   | Raw p     | BH-FDR p  | Effect Size</a:t>
            </a:r>
          </a:p>
          <a:p>
            <a:pPr>
              <a:spcBef>
                <a:spcPts val="200"/>
              </a:spcBef>
              <a:defRPr sz="900">
                <a:solidFill>
                  <a:srgbClr val="F8FAFC"/>
                </a:solidFill>
                <a:latin typeface="Consolas"/>
              </a:defRPr>
            </a:pPr>
            <a:r>
              <a:t>Q2  Protocol Association     | Pearson Chi-Square | Chi2 = 83,803.12 | &lt; 0.0001  | &lt; 0.0001  | Cramer's V = 0.5834</a:t>
            </a:r>
          </a:p>
          <a:p>
            <a:pPr>
              <a:spcBef>
                <a:spcPts val="200"/>
              </a:spcBef>
              <a:defRPr sz="900">
                <a:solidFill>
                  <a:srgbClr val="F8FAFC"/>
                </a:solidFill>
                <a:latin typeface="Consolas"/>
              </a:defRPr>
            </a:pPr>
            <a:r>
              <a:t>Q3  Service Association      | Pearson Chi-Square | Chi2 = 301,729.10 | &lt; 0.0001  | &lt; 0.0001  | Cramer's V = 0.6391</a:t>
            </a:r>
          </a:p>
          <a:p>
            <a:pPr>
              <a:spcBef>
                <a:spcPts val="200"/>
              </a:spcBef>
              <a:defRPr sz="900">
                <a:solidFill>
                  <a:srgbClr val="F8FAFC"/>
                </a:solidFill>
                <a:latin typeface="Consolas"/>
              </a:defRPr>
            </a:pPr>
            <a:r>
              <a:t>Q4  Duration Across Labels   | Kruskal-Wallis     | H = 44,749.48    | &lt; 0.0001  | &lt; 0.0001  | eta2[H] = 0.3635</a:t>
            </a:r>
          </a:p>
          <a:p>
            <a:pPr>
              <a:spcBef>
                <a:spcPts val="200"/>
              </a:spcBef>
              <a:defRPr sz="900">
                <a:solidFill>
                  <a:srgbClr val="F8FAFC"/>
                </a:solidFill>
                <a:latin typeface="Consolas"/>
              </a:defRPr>
            </a:pPr>
            <a:r>
              <a:t>Q5  Packets Across Labels    | Kruskal-Wallis     | H = 59,302.94    | &lt; 0.0001  | &lt; 0.0001  | eta2[H] = 0.4817</a:t>
            </a:r>
          </a:p>
          <a:p>
            <a:pPr>
              <a:spcBef>
                <a:spcPts val="200"/>
              </a:spcBef>
              <a:defRPr sz="900">
                <a:solidFill>
                  <a:srgbClr val="F8FAFC"/>
                </a:solidFill>
                <a:latin typeface="Consolas"/>
              </a:defRPr>
            </a:pPr>
            <a:r>
              <a:t>Q6  Fwd vs Bwd Packets       | Spearman Rho       | rho = 0.7463     | &lt; 0.0001  | &lt; 0.0001  | t = 394.04</a:t>
            </a:r>
          </a:p>
          <a:p>
            <a:pPr>
              <a:spcBef>
                <a:spcPts val="200"/>
              </a:spcBef>
              <a:defRPr sz="900">
                <a:solidFill>
                  <a:srgbClr val="F8FAFC"/>
                </a:solidFill>
                <a:latin typeface="Consolas"/>
              </a:defRPr>
            </a:pPr>
            <a:r>
              <a:t>Q7  TCP vs UDP Pkt Rate      | Mann-Whitney U     | U = 1.208 x 10^9 | &lt; 0.0001  | &lt; 0.0001  | Rank-Biserial = 0.7314</a:t>
            </a:r>
          </a:p>
          <a:p>
            <a:pPr>
              <a:spcBef>
                <a:spcPts val="200"/>
              </a:spcBef>
              <a:defRPr sz="900">
                <a:solidFill>
                  <a:srgbClr val="F8FAFC"/>
                </a:solidFill>
                <a:latin typeface="Consolas"/>
              </a:defRPr>
            </a:pPr>
            <a:r>
              <a:t>Q8  TCP vs UDP Payload       | Mann-Whitney U     | U = 1.159 x 10^9 | &lt; 0.0001  | &lt; 0.0001  | Rank-Biserial = 0.6622</a:t>
            </a:r>
          </a:p>
          <a:p>
            <a:pPr>
              <a:spcBef>
                <a:spcPts val="200"/>
              </a:spcBef>
              <a:defRPr sz="900">
                <a:solidFill>
                  <a:srgbClr val="F8FAFC"/>
                </a:solidFill>
                <a:latin typeface="Consolas"/>
              </a:defRPr>
            </a:pPr>
            <a:r>
              <a:t>Q9  SYN Flags Across Labels  | Kruskal-Wallis     | H = 57,883.20    | &lt; 0.0001  | &lt; 0.0001  | eta2[H] = 0.4702</a:t>
            </a:r>
          </a:p>
          <a:p>
            <a:pPr>
              <a:spcBef>
                <a:spcPts val="200"/>
              </a:spcBef>
              <a:defRPr sz="900">
                <a:solidFill>
                  <a:srgbClr val="F8FAFC"/>
                </a:solidFill>
                <a:latin typeface="Consolas"/>
              </a:defRPr>
            </a:pPr>
            <a:r>
              <a:t>Q10 High-SYN Proportion      | Two-Proportion z   | z = -196.1240    | &lt; 0.0001  | &lt; 0.0001  | 95% CI [-0.377, -0.366]</a:t>
            </a:r>
          </a:p>
          <a:p>
            <a:pPr>
              <a:spcBef>
                <a:spcPts val="200"/>
              </a:spcBef>
              <a:defRPr sz="900">
                <a:solidFill>
                  <a:srgbClr val="F8FAFC"/>
                </a:solidFill>
                <a:latin typeface="Consolas"/>
              </a:defRPr>
            </a:pPr>
            <a:r>
              <a:t>Q11 Duration vs Pkt Rate     | Spearman Rho       | rho = -0.2959    | &lt; 0.0001  | &lt; 0.0001  | t = -108.06</a:t>
            </a:r>
          </a:p>
          <a:p>
            <a:pPr>
              <a:spcBef>
                <a:spcPts val="200"/>
              </a:spcBef>
              <a:defRPr sz="900">
                <a:solidFill>
                  <a:srgbClr val="F8FAFC"/>
                </a:solidFill>
                <a:latin typeface="Consolas"/>
              </a:defRPr>
            </a:pPr>
            <a:r>
              <a:t>Q14 MQTT vs Non-MQTT         | Mann-Whitney U     | U = 4.883 x 10^8 | &lt; 0.0001  | &lt; 0.0001  | Rank-Biserial = 0.9864</a:t>
            </a:r>
          </a:p>
          <a:p>
            <a:pPr>
              <a:spcBef>
                <a:spcPts val="800"/>
              </a:spcBef>
              <a:defRPr sz="950" b="1">
                <a:solidFill>
                  <a:srgbClr val="F59E0B"/>
                </a:solidFill>
              </a:defRPr>
            </a:pPr>
            <a:r>
              <a:t>Conclusion: 11 of 11 inferential tests reject H0 with BH-FDR adjusted p &lt; 0.0001 (100% survival rate). All comparisons reflect observational associations.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DEEP DOMAIN INSIGHT</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Critical Analytical Anomaly: The High-SYN Paradox (Q10)</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07 / 12</a:t>
            </a:r>
          </a:p>
        </p:txBody>
      </p:sp>
      <p:sp>
        <p:nvSpPr>
          <p:cNvPr id="5" name="Rounded Rectangle 4"/>
          <p:cNvSpPr/>
          <p:nvPr/>
        </p:nvSpPr>
        <p:spPr>
          <a:xfrm>
            <a:off x="731520" y="1371600"/>
            <a:ext cx="512064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754880" cy="4480560"/>
          </a:xfrm>
          <a:prstGeom prst="rect">
            <a:avLst/>
          </a:prstGeom>
          <a:noFill/>
        </p:spPr>
        <p:txBody>
          <a:bodyPr wrap="square">
            <a:spAutoFit/>
          </a:bodyPr>
          <a:lstStyle/>
          <a:p>
            <a:pPr>
              <a:defRPr sz="1300" b="1">
                <a:solidFill>
                  <a:srgbClr val="F59E0B"/>
                </a:solidFill>
              </a:defRPr>
            </a:pPr>
            <a:r>
              <a:t>EMPIRICAL FINDING: TWO-PROPORTION TEST</a:t>
            </a:r>
          </a:p>
          <a:p>
            <a:pPr>
              <a:spcBef>
                <a:spcPts val="1000"/>
              </a:spcBef>
            </a:pPr>
            <a:r>
              <a:rPr b="1" sz="1050">
                <a:solidFill>
                  <a:srgbClr val="F8FAFC"/>
                </a:solidFill>
              </a:rPr>
              <a:t>Hypothesis Under Test: </a:t>
            </a:r>
            <a:r>
              <a:rPr sz="1050">
                <a:solidFill>
                  <a:srgbClr val="94A3B8"/>
                </a:solidFill>
              </a:rPr>
              <a:t>H0: The proportion of high-SYN flows (fwd_SYN &gt; 1) is equal between DOS_SYN_Hping and other network labels.</a:t>
            </a:r>
          </a:p>
          <a:p>
            <a:pPr>
              <a:spcBef>
                <a:spcPts val="1000"/>
              </a:spcBef>
            </a:pPr>
            <a:r>
              <a:rPr b="1" sz="1050">
                <a:solidFill>
                  <a:srgbClr val="F8FAFC"/>
                </a:solidFill>
              </a:rPr>
              <a:t>Observed High-SYN Proportion: </a:t>
            </a:r>
            <a:r>
              <a:rPr sz="1050">
                <a:solidFill>
                  <a:srgbClr val="94A3B8"/>
                </a:solidFill>
              </a:rPr>
              <a:t>• DOS_SYN_Hping: 0.00% (0 of 94,659 flows)
• Other Network Traffic: 37.15% (10,571 of 28,458 flows)</a:t>
            </a:r>
          </a:p>
          <a:p>
            <a:pPr>
              <a:spcBef>
                <a:spcPts val="1000"/>
              </a:spcBef>
            </a:pPr>
            <a:r>
              <a:rPr b="1" sz="1050">
                <a:solidFill>
                  <a:srgbClr val="F8FAFC"/>
                </a:solidFill>
              </a:rPr>
              <a:t>Test Statistic &amp; Confidence Interval: </a:t>
            </a:r>
            <a:r>
              <a:rPr sz="1050">
                <a:solidFill>
                  <a:srgbClr val="94A3B8"/>
                </a:solidFill>
              </a:rPr>
              <a:t>z = -196.1240, p &lt; 0.0001
95% Wald CI for Difference: [-0.3771, -0.3658]</a:t>
            </a:r>
          </a:p>
          <a:p>
            <a:pPr>
              <a:spcBef>
                <a:spcPts val="1000"/>
              </a:spcBef>
            </a:pPr>
            <a:r>
              <a:rPr b="1" sz="1050">
                <a:solidFill>
                  <a:srgbClr val="F8FAFC"/>
                </a:solidFill>
              </a:rPr>
              <a:t>The Immediate Paradox: </a:t>
            </a:r>
            <a:r>
              <a:rPr sz="1050">
                <a:solidFill>
                  <a:srgbClr val="94A3B8"/>
                </a:solidFill>
              </a:rPr>
              <a:t>Why does a notorious 'SYN Flood' attack exhibit ZERO high-SYN flow records?</a:t>
            </a:r>
          </a:p>
        </p:txBody>
      </p:sp>
      <p:sp>
        <p:nvSpPr>
          <p:cNvPr id="7" name="Rounded Rectangle 6"/>
          <p:cNvSpPr/>
          <p:nvPr/>
        </p:nvSpPr>
        <p:spPr>
          <a:xfrm>
            <a:off x="6217920" y="1371600"/>
            <a:ext cx="5242255"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480560"/>
          </a:xfrm>
          <a:prstGeom prst="rect">
            <a:avLst/>
          </a:prstGeom>
          <a:noFill/>
        </p:spPr>
        <p:txBody>
          <a:bodyPr wrap="square">
            <a:spAutoFit/>
          </a:bodyPr>
          <a:lstStyle/>
          <a:p>
            <a:pPr>
              <a:defRPr sz="1300" b="1">
                <a:solidFill>
                  <a:srgbClr val="10B981"/>
                </a:solidFill>
              </a:defRPr>
            </a:pPr>
            <a:r>
              <a:t>NETWORK PROTOCOL &amp; ZEEK LOGGING REASONING</a:t>
            </a:r>
          </a:p>
          <a:p>
            <a:pPr>
              <a:spcBef>
                <a:spcPts val="1000"/>
              </a:spcBef>
            </a:pPr>
            <a:r>
              <a:rPr b="1" sz="1050">
                <a:solidFill>
                  <a:srgbClr val="F8FAFC"/>
                </a:solidFill>
              </a:rPr>
              <a:t>1. Single-Packet Spoofing Architecture: </a:t>
            </a:r>
            <a:r>
              <a:rPr sz="1050">
                <a:solidFill>
                  <a:srgbClr val="94A3B8"/>
                </a:solidFill>
              </a:rPr>
              <a:t>Hping3 crafts automated single-packet SYN requests with randomized source IP addresses. The adversary never intends to complete the 3-way TCP handshake.</a:t>
            </a:r>
          </a:p>
          <a:p>
            <a:pPr>
              <a:spcBef>
                <a:spcPts val="1000"/>
              </a:spcBef>
            </a:pPr>
            <a:r>
              <a:rPr b="1" sz="1050">
                <a:solidFill>
                  <a:srgbClr val="F8FAFC"/>
                </a:solidFill>
              </a:rPr>
              <a:t>2. Zeek Flow Aggregation Boundary: </a:t>
            </a:r>
            <a:r>
              <a:rPr sz="1050">
                <a:solidFill>
                  <a:srgbClr val="94A3B8"/>
                </a:solidFill>
              </a:rPr>
              <a:t>Zeek monitors network flows. Because each spoofed SYN arrives from a unique pseudo-random port/IP pair without a response, Zeek logs each attempt as an isolated, 1-packet flow.</a:t>
            </a:r>
          </a:p>
          <a:p>
            <a:pPr>
              <a:spcBef>
                <a:spcPts val="1000"/>
              </a:spcBef>
            </a:pPr>
            <a:r>
              <a:rPr b="1" sz="1050">
                <a:solidFill>
                  <a:srgbClr val="F8FAFC"/>
                </a:solidFill>
              </a:rPr>
              <a:t>3. Why Benign Flows Have High-SYN Counts: </a:t>
            </a:r>
            <a:r>
              <a:rPr sz="1050">
                <a:solidFill>
                  <a:srgbClr val="94A3B8"/>
                </a:solidFill>
              </a:rPr>
              <a:t>Legitimate IoT connections (e.g. MQTT retries, ThingSpeak HTTP reconnects) experience packet loss and re-transmit SYN packets within the same continuous TCP session.</a:t>
            </a:r>
          </a:p>
          <a:p>
            <a:pPr>
              <a:spcBef>
                <a:spcPts val="1000"/>
              </a:spcBef>
            </a:pPr>
            <a:r>
              <a:rPr b="1" sz="1050">
                <a:solidFill>
                  <a:srgbClr val="F8FAFC"/>
                </a:solidFill>
              </a:rPr>
              <a:t>4. Critical Lesson for Detection Engineers: </a:t>
            </a:r>
            <a:r>
              <a:rPr sz="1050">
                <a:solidFill>
                  <a:srgbClr val="94A3B8"/>
                </a:solidFill>
              </a:rPr>
              <a:t>Filtering on 'high SYN packets per flow' will completely miss Hping3 SYN floods! Real-world detection must monitor global connection rates, not per-flow SYN flags.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MODEL EVALUATION &amp; BENCHMARKING</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Supervised Machine Learning: Random Forest Benchmark</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08 / 12</a:t>
            </a:r>
          </a:p>
        </p:txBody>
      </p:sp>
      <p:sp>
        <p:nvSpPr>
          <p:cNvPr id="5" name="Rounded Rectangle 4"/>
          <p:cNvSpPr/>
          <p:nvPr/>
        </p:nvSpPr>
        <p:spPr>
          <a:xfrm>
            <a:off x="73152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81328"/>
            <a:ext cx="2240280" cy="877824"/>
          </a:xfrm>
          <a:prstGeom prst="rect">
            <a:avLst/>
          </a:prstGeom>
          <a:noFill/>
        </p:spPr>
        <p:txBody>
          <a:bodyPr wrap="square">
            <a:spAutoFit/>
          </a:bodyPr>
          <a:lstStyle/>
          <a:p>
            <a:pPr>
              <a:defRPr sz="2600" b="1">
                <a:solidFill>
                  <a:srgbClr val="10B981"/>
                </a:solidFill>
                <a:latin typeface="Calibri"/>
              </a:defRPr>
            </a:pPr>
            <a:r>
              <a:t>0.9338</a:t>
            </a:r>
          </a:p>
          <a:p>
            <a:pPr>
              <a:spcBef>
                <a:spcPts val="400"/>
              </a:spcBef>
              <a:defRPr sz="1100" b="1">
                <a:solidFill>
                  <a:srgbClr val="F8FAFC"/>
                </a:solidFill>
                <a:latin typeface="Calibri"/>
              </a:defRPr>
            </a:pPr>
            <a:r>
              <a:t>Random Forest Macro-F1</a:t>
            </a:r>
          </a:p>
          <a:p>
            <a:pPr>
              <a:spcBef>
                <a:spcPts val="200"/>
              </a:spcBef>
              <a:defRPr sz="900">
                <a:solidFill>
                  <a:srgbClr val="94A3B8"/>
                </a:solidFill>
                <a:latin typeface="Calibri"/>
              </a:defRPr>
            </a:pPr>
            <a:r>
              <a:t>Balanced Across All 12 Classes</a:t>
            </a:r>
          </a:p>
        </p:txBody>
      </p:sp>
      <p:sp>
        <p:nvSpPr>
          <p:cNvPr id="7" name="Rounded Rectangle 6"/>
          <p:cNvSpPr/>
          <p:nvPr/>
        </p:nvSpPr>
        <p:spPr>
          <a:xfrm>
            <a:off x="342900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481328"/>
            <a:ext cx="2240280" cy="877824"/>
          </a:xfrm>
          <a:prstGeom prst="rect">
            <a:avLst/>
          </a:prstGeom>
          <a:noFill/>
        </p:spPr>
        <p:txBody>
          <a:bodyPr wrap="square">
            <a:spAutoFit/>
          </a:bodyPr>
          <a:lstStyle/>
          <a:p>
            <a:pPr>
              <a:defRPr sz="2600" b="1">
                <a:solidFill>
                  <a:srgbClr val="F59E0B"/>
                </a:solidFill>
                <a:latin typeface="Calibri"/>
              </a:defRPr>
            </a:pPr>
            <a:r>
              <a:t>0.0724</a:t>
            </a:r>
          </a:p>
          <a:p>
            <a:pPr>
              <a:spcBef>
                <a:spcPts val="400"/>
              </a:spcBef>
              <a:defRPr sz="1100" b="1">
                <a:solidFill>
                  <a:srgbClr val="F8FAFC"/>
                </a:solidFill>
                <a:latin typeface="Calibri"/>
              </a:defRPr>
            </a:pPr>
            <a:r>
              <a:t>Majority Baseline F1</a:t>
            </a:r>
          </a:p>
          <a:p>
            <a:pPr>
              <a:spcBef>
                <a:spcPts val="200"/>
              </a:spcBef>
              <a:defRPr sz="900">
                <a:solidFill>
                  <a:srgbClr val="94A3B8"/>
                </a:solidFill>
                <a:latin typeface="Calibri"/>
              </a:defRPr>
            </a:pPr>
            <a:r>
              <a:t>Severe Class Imbalance Floor</a:t>
            </a:r>
          </a:p>
        </p:txBody>
      </p:sp>
      <p:sp>
        <p:nvSpPr>
          <p:cNvPr id="9" name="Rounded Rectangle 8"/>
          <p:cNvSpPr/>
          <p:nvPr/>
        </p:nvSpPr>
        <p:spPr>
          <a:xfrm>
            <a:off x="612648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481328"/>
            <a:ext cx="2240280" cy="877824"/>
          </a:xfrm>
          <a:prstGeom prst="rect">
            <a:avLst/>
          </a:prstGeom>
          <a:noFill/>
        </p:spPr>
        <p:txBody>
          <a:bodyPr wrap="square">
            <a:spAutoFit/>
          </a:bodyPr>
          <a:lstStyle/>
          <a:p>
            <a:pPr>
              <a:defRPr sz="2600" b="1">
                <a:solidFill>
                  <a:srgbClr val="06B6D4"/>
                </a:solidFill>
                <a:latin typeface="Calibri"/>
              </a:defRPr>
            </a:pPr>
            <a:r>
              <a:t>+0.8614</a:t>
            </a:r>
          </a:p>
          <a:p>
            <a:pPr>
              <a:spcBef>
                <a:spcPts val="400"/>
              </a:spcBef>
              <a:defRPr sz="1100" b="1">
                <a:solidFill>
                  <a:srgbClr val="F8FAFC"/>
                </a:solidFill>
                <a:latin typeface="Calibri"/>
              </a:defRPr>
            </a:pPr>
            <a:r>
              <a:t>Macro-F1 Model Lift</a:t>
            </a:r>
          </a:p>
          <a:p>
            <a:pPr>
              <a:spcBef>
                <a:spcPts val="200"/>
              </a:spcBef>
              <a:defRPr sz="900">
                <a:solidFill>
                  <a:srgbClr val="94A3B8"/>
                </a:solidFill>
                <a:latin typeface="Calibri"/>
              </a:defRPr>
            </a:pPr>
            <a:r>
              <a:t>True Empirical Improvement</a:t>
            </a:r>
          </a:p>
        </p:txBody>
      </p:sp>
      <p:sp>
        <p:nvSpPr>
          <p:cNvPr id="11" name="Rounded Rectangle 10"/>
          <p:cNvSpPr/>
          <p:nvPr/>
        </p:nvSpPr>
        <p:spPr>
          <a:xfrm>
            <a:off x="8823960" y="1371600"/>
            <a:ext cx="2636215"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481328"/>
            <a:ext cx="2361895" cy="877824"/>
          </a:xfrm>
          <a:prstGeom prst="rect">
            <a:avLst/>
          </a:prstGeom>
          <a:noFill/>
        </p:spPr>
        <p:txBody>
          <a:bodyPr wrap="square">
            <a:spAutoFit/>
          </a:bodyPr>
          <a:lstStyle/>
          <a:p>
            <a:pPr>
              <a:defRPr sz="2600" b="1">
                <a:solidFill>
                  <a:srgbClr val="F8FAFC"/>
                </a:solidFill>
                <a:latin typeface="Calibri"/>
              </a:defRPr>
            </a:pPr>
            <a:r>
              <a:t>0.9380</a:t>
            </a:r>
          </a:p>
          <a:p>
            <a:pPr>
              <a:spcBef>
                <a:spcPts val="400"/>
              </a:spcBef>
              <a:defRPr sz="1100" b="1">
                <a:solidFill>
                  <a:srgbClr val="F8FAFC"/>
                </a:solidFill>
                <a:latin typeface="Calibri"/>
              </a:defRPr>
            </a:pPr>
            <a:r>
              <a:t>Balanced Accuracy</a:t>
            </a:r>
          </a:p>
          <a:p>
            <a:pPr>
              <a:spcBef>
                <a:spcPts val="200"/>
              </a:spcBef>
              <a:defRPr sz="900">
                <a:solidFill>
                  <a:srgbClr val="94A3B8"/>
                </a:solidFill>
                <a:latin typeface="Calibri"/>
              </a:defRPr>
            </a:pPr>
            <a:r>
              <a:t>vs 0.0833 baseline</a:t>
            </a:r>
          </a:p>
        </p:txBody>
      </p:sp>
      <p:sp>
        <p:nvSpPr>
          <p:cNvPr id="13" name="Rounded Rectangle 12"/>
          <p:cNvSpPr/>
          <p:nvPr/>
        </p:nvSpPr>
        <p:spPr>
          <a:xfrm>
            <a:off x="731520" y="2651760"/>
            <a:ext cx="5120640" cy="356616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754880" cy="3291840"/>
          </a:xfrm>
          <a:prstGeom prst="rect">
            <a:avLst/>
          </a:prstGeom>
          <a:noFill/>
        </p:spPr>
        <p:txBody>
          <a:bodyPr wrap="square">
            <a:spAutoFit/>
          </a:bodyPr>
          <a:lstStyle/>
          <a:p>
            <a:pPr>
              <a:defRPr sz="1300" b="1">
                <a:solidFill>
                  <a:srgbClr val="06B6D4"/>
                </a:solidFill>
              </a:defRPr>
            </a:pPr>
            <a:r>
              <a:t>MODEL CONFIGURATION &amp; VALIDATION</a:t>
            </a:r>
          </a:p>
          <a:p>
            <a:pPr>
              <a:spcBef>
                <a:spcPts val="800"/>
              </a:spcBef>
            </a:pPr>
            <a:r>
              <a:rPr b="1" sz="1050">
                <a:solidFill>
                  <a:srgbClr val="F8FAFC"/>
                </a:solidFill>
              </a:rPr>
              <a:t>Algorithm Choice: </a:t>
            </a:r>
            <a:r>
              <a:rPr sz="1050">
                <a:solidFill>
                  <a:srgbClr val="94A3B8"/>
                </a:solidFill>
              </a:rPr>
              <a:t>Random Forest Classifier (100 estimators, max_depth=20, random_state=42). Selected for robustness against extreme outliers and non-linear interactions.</a:t>
            </a:r>
          </a:p>
          <a:p>
            <a:pPr>
              <a:spcBef>
                <a:spcPts val="800"/>
              </a:spcBef>
            </a:pPr>
            <a:r>
              <a:rPr b="1" sz="1050">
                <a:solidFill>
                  <a:srgbClr val="F8FAFC"/>
                </a:solidFill>
              </a:rPr>
              <a:t>Class-Weight Adjustment: </a:t>
            </a:r>
            <a:r>
              <a:rPr sz="1050">
                <a:solidFill>
                  <a:srgbClr val="94A3B8"/>
                </a:solidFill>
              </a:rPr>
              <a:t>`class_weight='balanced_subsample'` recalculates tree weights per bootstrap sample, giving minority labels (e.g. NMAP_FIN) proportional penalty.</a:t>
            </a:r>
          </a:p>
          <a:p>
            <a:pPr>
              <a:spcBef>
                <a:spcPts val="800"/>
              </a:spcBef>
            </a:pPr>
            <a:r>
              <a:rPr b="1" sz="1050">
                <a:solidFill>
                  <a:srgbClr val="F8FAFC"/>
                </a:solidFill>
              </a:rPr>
              <a:t>Leakage Protection: </a:t>
            </a:r>
            <a:r>
              <a:rPr sz="1050">
                <a:solidFill>
                  <a:srgbClr val="94A3B8"/>
                </a:solidFill>
              </a:rPr>
              <a:t>Source and destination port numbers were strictly excluded prior to training.</a:t>
            </a:r>
          </a:p>
          <a:p>
            <a:pPr>
              <a:spcBef>
                <a:spcPts val="800"/>
              </a:spcBef>
            </a:pPr>
            <a:r>
              <a:rPr b="1" sz="1050">
                <a:solidFill>
                  <a:srgbClr val="F8FAFC"/>
                </a:solidFill>
              </a:rPr>
              <a:t>Validation Strategy: </a:t>
            </a:r>
            <a:r>
              <a:rPr sz="1050">
                <a:solidFill>
                  <a:srgbClr val="94A3B8"/>
                </a:solidFill>
              </a:rPr>
              <a:t>Stratified 80/20 train/test split (98,493 train / 24,624 test flows) preserving exact minority proportions.</a:t>
            </a:r>
          </a:p>
        </p:txBody>
      </p:sp>
      <p:sp>
        <p:nvSpPr>
          <p:cNvPr id="15" name="Rounded Rectangle 14"/>
          <p:cNvSpPr/>
          <p:nvPr/>
        </p:nvSpPr>
        <p:spPr>
          <a:xfrm>
            <a:off x="6217920" y="2651760"/>
            <a:ext cx="5242255" cy="356616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788920"/>
            <a:ext cx="4846320" cy="3291840"/>
          </a:xfrm>
          <a:prstGeom prst="rect">
            <a:avLst/>
          </a:prstGeom>
          <a:noFill/>
        </p:spPr>
        <p:txBody>
          <a:bodyPr wrap="square">
            <a:spAutoFit/>
          </a:bodyPr>
          <a:lstStyle/>
          <a:p>
            <a:pPr>
              <a:defRPr sz="1300" b="1">
                <a:solidFill>
                  <a:srgbClr val="10B981"/>
                </a:solidFill>
              </a:defRPr>
            </a:pPr>
            <a:r>
              <a:t>TOP 10 PREDICTIVE FEATURES (GINI IMPORTANCE)</a:t>
            </a:r>
          </a:p>
          <a:p>
            <a:pPr>
              <a:spcBef>
                <a:spcPts val="400"/>
              </a:spcBef>
              <a:defRPr sz="950">
                <a:solidFill>
                  <a:srgbClr val="F8FAFC"/>
                </a:solidFill>
                <a:latin typeface="Consolas"/>
              </a:defRPr>
            </a:pPr>
            <a:r>
              <a:t>1. fwd_URG_flag_count   |  0.0418  |  Identifies XMAS tree scans &amp; abnormal control packets</a:t>
            </a:r>
          </a:p>
          <a:p>
            <a:pPr>
              <a:spcBef>
                <a:spcPts val="400"/>
              </a:spcBef>
              <a:defRPr sz="950">
                <a:solidFill>
                  <a:srgbClr val="F8FAFC"/>
                </a:solidFill>
                <a:latin typeface="Consolas"/>
              </a:defRPr>
            </a:pPr>
            <a:r>
              <a:t>2. fwd_last_window_size  |  0.0406  |  Distinguishes TCP buffer management across tools</a:t>
            </a:r>
          </a:p>
          <a:p>
            <a:pPr>
              <a:spcBef>
                <a:spcPts val="400"/>
              </a:spcBef>
              <a:defRPr sz="950">
                <a:solidFill>
                  <a:srgbClr val="F8FAFC"/>
                </a:solidFill>
                <a:latin typeface="Consolas"/>
              </a:defRPr>
            </a:pPr>
            <a:r>
              <a:t>3. fwd_PSH_flag_count   |  0.0390  |  Differentiates push-data flows (MQTT) from scans</a:t>
            </a:r>
          </a:p>
          <a:p>
            <a:pPr>
              <a:spcBef>
                <a:spcPts val="400"/>
              </a:spcBef>
              <a:defRPr sz="950">
                <a:solidFill>
                  <a:srgbClr val="F8FAFC"/>
                </a:solidFill>
                <a:latin typeface="Consolas"/>
              </a:defRPr>
            </a:pPr>
            <a:r>
              <a:t>4. fwd_header_size_tot  |  0.0331  |  Separates single-packet floods from real payloads</a:t>
            </a:r>
          </a:p>
          <a:p>
            <a:pPr>
              <a:spcBef>
                <a:spcPts val="400"/>
              </a:spcBef>
              <a:defRPr sz="950">
                <a:solidFill>
                  <a:srgbClr val="F8FAFC"/>
                </a:solidFill>
                <a:latin typeface="Consolas"/>
              </a:defRPr>
            </a:pPr>
            <a:r>
              <a:t>5. fwd_pkts_payload.avg  |  0.0326  |  Highlights sensor data payloads vs zero-byte scans</a:t>
            </a:r>
          </a:p>
          <a:p>
            <a:pPr>
              <a:spcBef>
                <a:spcPts val="400"/>
              </a:spcBef>
              <a:defRPr sz="950">
                <a:solidFill>
                  <a:srgbClr val="F8FAFC"/>
                </a:solidFill>
                <a:latin typeface="Consolas"/>
              </a:defRPr>
            </a:pPr>
            <a:r>
              <a:t>6. flow_iat.min         |  0.0325  |  Captures high-frequency automated script bursts</a:t>
            </a:r>
          </a:p>
          <a:p>
            <a:pPr>
              <a:spcBef>
                <a:spcPts val="400"/>
              </a:spcBef>
              <a:defRPr sz="950">
                <a:solidFill>
                  <a:srgbClr val="F8FAFC"/>
                </a:solidFill>
                <a:latin typeface="Consolas"/>
              </a:defRPr>
            </a:pPr>
            <a:r>
              <a:t>7. fwd_header_size_min  |  0.0319  |  Measures minimal TCP/IP header footprints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SOFTWARE &amp; SYSTEMS ARCHITECTURE</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Full-Stack Platform: In-Memory DuckDB &amp; 3D SOC</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09 / 12</a:t>
            </a:r>
          </a:p>
        </p:txBody>
      </p:sp>
      <p:sp>
        <p:nvSpPr>
          <p:cNvPr id="5" name="Rounded Rectangle 4"/>
          <p:cNvSpPr/>
          <p:nvPr/>
        </p:nvSpPr>
        <p:spPr>
          <a:xfrm>
            <a:off x="731520" y="1371600"/>
            <a:ext cx="246888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2194560" cy="4480560"/>
          </a:xfrm>
          <a:prstGeom prst="rect">
            <a:avLst/>
          </a:prstGeom>
          <a:noFill/>
        </p:spPr>
        <p:txBody>
          <a:bodyPr wrap="square">
            <a:spAutoFit/>
          </a:bodyPr>
          <a:lstStyle/>
          <a:p>
            <a:pPr>
              <a:defRPr sz="1100" b="1">
                <a:solidFill>
                  <a:srgbClr val="06B6D4"/>
                </a:solidFill>
              </a:defRPr>
            </a:pPr>
            <a:r>
              <a:t>1. IN-MEMORY ENGINE</a:t>
            </a:r>
          </a:p>
          <a:p>
            <a:pPr>
              <a:spcBef>
                <a:spcPts val="400"/>
              </a:spcBef>
              <a:defRPr sz="1300" b="1">
                <a:solidFill>
                  <a:srgbClr val="F8FAFC"/>
                </a:solidFill>
              </a:defRPr>
            </a:pPr>
            <a:r>
              <a:t>DuckDB Columnar OLAP</a:t>
            </a:r>
          </a:p>
          <a:p>
            <a:pPr>
              <a:spcBef>
                <a:spcPts val="800"/>
              </a:spcBef>
              <a:defRPr sz="950">
                <a:solidFill>
                  <a:srgbClr val="94A3B8"/>
                </a:solidFill>
              </a:defRPr>
            </a:pPr>
            <a:r>
              <a:t>• All 123,117 rows registered in memory as `flows` table.</a:t>
            </a:r>
          </a:p>
          <a:p>
            <a:pPr>
              <a:spcBef>
                <a:spcPts val="800"/>
              </a:spcBef>
              <a:defRPr sz="950">
                <a:solidFill>
                  <a:srgbClr val="94A3B8"/>
                </a:solidFill>
              </a:defRPr>
            </a:pPr>
            <a:r>
              <a:t>• Sub-15ms SQL aggregations without database overhead.</a:t>
            </a:r>
          </a:p>
          <a:p>
            <a:pPr>
              <a:spcBef>
                <a:spcPts val="800"/>
              </a:spcBef>
              <a:defRPr sz="950">
                <a:solidFill>
                  <a:srgbClr val="94A3B8"/>
                </a:solidFill>
              </a:defRPr>
            </a:pPr>
            <a:r>
              <a:t>• Dynamic SQL query API endpoint supporting live filter slicing.</a:t>
            </a:r>
          </a:p>
        </p:txBody>
      </p:sp>
      <p:sp>
        <p:nvSpPr>
          <p:cNvPr id="7" name="Rounded Rectangle 6"/>
          <p:cNvSpPr/>
          <p:nvPr/>
        </p:nvSpPr>
        <p:spPr>
          <a:xfrm>
            <a:off x="3483864" y="1371600"/>
            <a:ext cx="246888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1024" y="1554480"/>
            <a:ext cx="2194560" cy="4480560"/>
          </a:xfrm>
          <a:prstGeom prst="rect">
            <a:avLst/>
          </a:prstGeom>
          <a:noFill/>
        </p:spPr>
        <p:txBody>
          <a:bodyPr wrap="square">
            <a:spAutoFit/>
          </a:bodyPr>
          <a:lstStyle/>
          <a:p>
            <a:pPr>
              <a:defRPr sz="1100" b="1">
                <a:solidFill>
                  <a:srgbClr val="10B981"/>
                </a:solidFill>
              </a:defRPr>
            </a:pPr>
            <a:r>
              <a:t>2. BACKEND API</a:t>
            </a:r>
          </a:p>
          <a:p>
            <a:pPr>
              <a:spcBef>
                <a:spcPts val="400"/>
              </a:spcBef>
              <a:defRPr sz="1300" b="1">
                <a:solidFill>
                  <a:srgbClr val="F8FAFC"/>
                </a:solidFill>
              </a:defRPr>
            </a:pPr>
            <a:r>
              <a:t>FastAPI + Python 3.9</a:t>
            </a:r>
          </a:p>
          <a:p>
            <a:pPr>
              <a:spcBef>
                <a:spcPts val="800"/>
              </a:spcBef>
              <a:defRPr sz="950">
                <a:solidFill>
                  <a:srgbClr val="94A3B8"/>
                </a:solidFill>
              </a:defRPr>
            </a:pPr>
            <a:r>
              <a:t>• 15+ structured REST endpoints.</a:t>
            </a:r>
          </a:p>
          <a:p>
            <a:pPr>
              <a:spcBef>
                <a:spcPts val="800"/>
              </a:spcBef>
              <a:defRPr sz="950">
                <a:solidFill>
                  <a:srgbClr val="94A3B8"/>
                </a:solidFill>
              </a:defRPr>
            </a:pPr>
            <a:r>
              <a:t>• Pydantic schemas for automated response validation.</a:t>
            </a:r>
          </a:p>
          <a:p>
            <a:pPr>
              <a:spcBef>
                <a:spcPts val="800"/>
              </a:spcBef>
              <a:defRPr sz="950">
                <a:solidFill>
                  <a:srgbClr val="94A3B8"/>
                </a:solidFill>
              </a:defRPr>
            </a:pPr>
            <a:r>
              <a:t>• Export router serving dynamic CSV tables for BI tools.</a:t>
            </a:r>
          </a:p>
        </p:txBody>
      </p:sp>
      <p:sp>
        <p:nvSpPr>
          <p:cNvPr id="9" name="Rounded Rectangle 8"/>
          <p:cNvSpPr/>
          <p:nvPr/>
        </p:nvSpPr>
        <p:spPr>
          <a:xfrm>
            <a:off x="6236208" y="1371600"/>
            <a:ext cx="246888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554480"/>
            <a:ext cx="2194560" cy="4480560"/>
          </a:xfrm>
          <a:prstGeom prst="rect">
            <a:avLst/>
          </a:prstGeom>
          <a:noFill/>
        </p:spPr>
        <p:txBody>
          <a:bodyPr wrap="square">
            <a:spAutoFit/>
          </a:bodyPr>
          <a:lstStyle/>
          <a:p>
            <a:pPr>
              <a:defRPr sz="1100" b="1">
                <a:solidFill>
                  <a:srgbClr val="F59E0B"/>
                </a:solidFill>
              </a:defRPr>
            </a:pPr>
            <a:r>
              <a:t>3. 3D WEB PLATFORM</a:t>
            </a:r>
          </a:p>
          <a:p>
            <a:pPr>
              <a:spcBef>
                <a:spcPts val="400"/>
              </a:spcBef>
              <a:defRPr sz="1300" b="1">
                <a:solidFill>
                  <a:srgbClr val="F8FAFC"/>
                </a:solidFill>
              </a:defRPr>
            </a:pPr>
            <a:r>
              <a:t>React + Three.js + R3F</a:t>
            </a:r>
          </a:p>
          <a:p>
            <a:pPr>
              <a:spcBef>
                <a:spcPts val="800"/>
              </a:spcBef>
              <a:defRPr sz="950">
                <a:solidFill>
                  <a:srgbClr val="94A3B8"/>
                </a:solidFill>
              </a:defRPr>
            </a:pPr>
            <a:r>
              <a:t>• Interactive 3D Network Intelligence Globe.</a:t>
            </a:r>
          </a:p>
          <a:p>
            <a:pPr>
              <a:spcBef>
                <a:spcPts val="800"/>
              </a:spcBef>
              <a:defRPr sz="950">
                <a:solidFill>
                  <a:srgbClr val="94A3B8"/>
                </a:solidFill>
              </a:defRPr>
            </a:pPr>
            <a:r>
              <a:t>• Real-time node cluster inspection &amp; spatial topology controls.</a:t>
            </a:r>
          </a:p>
          <a:p>
            <a:pPr>
              <a:spcBef>
                <a:spcPts val="800"/>
              </a:spcBef>
              <a:defRPr sz="950">
                <a:solidFill>
                  <a:srgbClr val="94A3B8"/>
                </a:solidFill>
              </a:defRPr>
            </a:pPr>
            <a:r>
              <a:t>• Cyber SOC executive dashboard with dark/light mode toggle.</a:t>
            </a:r>
          </a:p>
        </p:txBody>
      </p:sp>
      <p:sp>
        <p:nvSpPr>
          <p:cNvPr id="11" name="Rounded Rectangle 10"/>
          <p:cNvSpPr/>
          <p:nvPr/>
        </p:nvSpPr>
        <p:spPr>
          <a:xfrm>
            <a:off x="8988552" y="1371600"/>
            <a:ext cx="246888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5712" y="1554480"/>
            <a:ext cx="2194560" cy="4480560"/>
          </a:xfrm>
          <a:prstGeom prst="rect">
            <a:avLst/>
          </a:prstGeom>
          <a:noFill/>
        </p:spPr>
        <p:txBody>
          <a:bodyPr wrap="square">
            <a:spAutoFit/>
          </a:bodyPr>
          <a:lstStyle/>
          <a:p>
            <a:pPr>
              <a:defRPr sz="1100" b="1">
                <a:solidFill>
                  <a:srgbClr val="F8FAFC"/>
                </a:solidFill>
              </a:defRPr>
            </a:pPr>
            <a:r>
              <a:t>4. QUALITY AUDIT</a:t>
            </a:r>
          </a:p>
          <a:p>
            <a:pPr>
              <a:spcBef>
                <a:spcPts val="400"/>
              </a:spcBef>
              <a:defRPr sz="1300" b="1">
                <a:solidFill>
                  <a:srgbClr val="F8FAFC"/>
                </a:solidFill>
              </a:defRPr>
            </a:pPr>
            <a:r>
              <a:t>Pytest Test Suite</a:t>
            </a:r>
          </a:p>
          <a:p>
            <a:pPr>
              <a:spcBef>
                <a:spcPts val="800"/>
              </a:spcBef>
              <a:defRPr sz="950">
                <a:solidFill>
                  <a:srgbClr val="94A3B8"/>
                </a:solidFill>
              </a:defRPr>
            </a:pPr>
            <a:r>
              <a:t>• 17 / 17 automated tests passing.</a:t>
            </a:r>
          </a:p>
          <a:p>
            <a:pPr>
              <a:spcBef>
                <a:spcPts val="800"/>
              </a:spcBef>
              <a:defRPr sz="950">
                <a:solidFill>
                  <a:srgbClr val="94A3B8"/>
                </a:solidFill>
              </a:defRPr>
            </a:pPr>
            <a:r>
              <a:t>• Verifies API health, ML endpoints, SQL query engine, and exports.</a:t>
            </a:r>
          </a:p>
          <a:p>
            <a:pPr>
              <a:spcBef>
                <a:spcPts val="800"/>
              </a:spcBef>
              <a:defRPr sz="950">
                <a:solidFill>
                  <a:srgbClr val="94A3B8"/>
                </a:solidFill>
              </a:defRPr>
            </a:pPr>
            <a:r>
              <a:t>• Production Vite build compiles in 2.08 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ENTERPRISE BI DELIVERABLES</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Business Intelligence: Power BI &amp; Tableau Implementation</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10 / 12</a:t>
            </a:r>
          </a:p>
        </p:txBody>
      </p:sp>
      <p:sp>
        <p:nvSpPr>
          <p:cNvPr id="5" name="Rounded Rectangle 4"/>
          <p:cNvSpPr/>
          <p:nvPr/>
        </p:nvSpPr>
        <p:spPr>
          <a:xfrm>
            <a:off x="73152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81328"/>
            <a:ext cx="2240280" cy="877824"/>
          </a:xfrm>
          <a:prstGeom prst="rect">
            <a:avLst/>
          </a:prstGeom>
          <a:noFill/>
        </p:spPr>
        <p:txBody>
          <a:bodyPr wrap="square">
            <a:spAutoFit/>
          </a:bodyPr>
          <a:lstStyle/>
          <a:p>
            <a:pPr>
              <a:defRPr sz="2600" b="1">
                <a:solidFill>
                  <a:srgbClr val="06B6D4"/>
                </a:solidFill>
                <a:latin typeface="Calibri"/>
              </a:defRPr>
            </a:pPr>
            <a:r>
              <a:t>5 Pages</a:t>
            </a:r>
          </a:p>
          <a:p>
            <a:pPr>
              <a:spcBef>
                <a:spcPts val="400"/>
              </a:spcBef>
              <a:defRPr sz="1100" b="1">
                <a:solidFill>
                  <a:srgbClr val="F8FAFC"/>
                </a:solidFill>
                <a:latin typeface="Calibri"/>
              </a:defRPr>
            </a:pPr>
            <a:r>
              <a:t>Power BI Report Structure</a:t>
            </a:r>
          </a:p>
          <a:p>
            <a:pPr>
              <a:spcBef>
                <a:spcPts val="200"/>
              </a:spcBef>
              <a:defRPr sz="900">
                <a:solidFill>
                  <a:srgbClr val="94A3B8"/>
                </a:solidFill>
                <a:latin typeface="Calibri"/>
              </a:defRPr>
            </a:pPr>
            <a:r>
              <a:t>Executive to Data Audit</a:t>
            </a:r>
          </a:p>
        </p:txBody>
      </p:sp>
      <p:sp>
        <p:nvSpPr>
          <p:cNvPr id="7" name="Rounded Rectangle 6"/>
          <p:cNvSpPr/>
          <p:nvPr/>
        </p:nvSpPr>
        <p:spPr>
          <a:xfrm>
            <a:off x="342900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481328"/>
            <a:ext cx="2240280" cy="877824"/>
          </a:xfrm>
          <a:prstGeom prst="rect">
            <a:avLst/>
          </a:prstGeom>
          <a:noFill/>
        </p:spPr>
        <p:txBody>
          <a:bodyPr wrap="square">
            <a:spAutoFit/>
          </a:bodyPr>
          <a:lstStyle/>
          <a:p>
            <a:pPr>
              <a:defRPr sz="2600" b="1">
                <a:solidFill>
                  <a:srgbClr val="10B981"/>
                </a:solidFill>
                <a:latin typeface="Calibri"/>
              </a:defRPr>
            </a:pPr>
            <a:r>
              <a:t>170+ Lines</a:t>
            </a:r>
          </a:p>
          <a:p>
            <a:pPr>
              <a:spcBef>
                <a:spcPts val="400"/>
              </a:spcBef>
              <a:defRPr sz="1100" b="1">
                <a:solidFill>
                  <a:srgbClr val="F8FAFC"/>
                </a:solidFill>
                <a:latin typeface="Calibri"/>
              </a:defRPr>
            </a:pPr>
            <a:r>
              <a:t>DAX Measures Library</a:t>
            </a:r>
          </a:p>
          <a:p>
            <a:pPr>
              <a:spcBef>
                <a:spcPts val="200"/>
              </a:spcBef>
              <a:defRPr sz="900">
                <a:solidFill>
                  <a:srgbClr val="94A3B8"/>
                </a:solidFill>
                <a:latin typeface="Calibri"/>
              </a:defRPr>
            </a:pPr>
            <a:r>
              <a:t>Pre-computed Analytical DAX</a:t>
            </a:r>
          </a:p>
        </p:txBody>
      </p:sp>
      <p:sp>
        <p:nvSpPr>
          <p:cNvPr id="9" name="Rounded Rectangle 8"/>
          <p:cNvSpPr/>
          <p:nvPr/>
        </p:nvSpPr>
        <p:spPr>
          <a:xfrm>
            <a:off x="6126480" y="1371600"/>
            <a:ext cx="2514600"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481328"/>
            <a:ext cx="2240280" cy="877824"/>
          </a:xfrm>
          <a:prstGeom prst="rect">
            <a:avLst/>
          </a:prstGeom>
          <a:noFill/>
        </p:spPr>
        <p:txBody>
          <a:bodyPr wrap="square">
            <a:spAutoFit/>
          </a:bodyPr>
          <a:lstStyle/>
          <a:p>
            <a:pPr>
              <a:defRPr sz="2600" b="1">
                <a:solidFill>
                  <a:srgbClr val="F59E0B"/>
                </a:solidFill>
                <a:latin typeface="Calibri"/>
              </a:defRPr>
            </a:pPr>
            <a:r>
              <a:t>10 Tables</a:t>
            </a:r>
          </a:p>
          <a:p>
            <a:pPr>
              <a:spcBef>
                <a:spcPts val="400"/>
              </a:spcBef>
              <a:defRPr sz="1100" b="1">
                <a:solidFill>
                  <a:srgbClr val="F8FAFC"/>
                </a:solidFill>
                <a:latin typeface="Calibri"/>
              </a:defRPr>
            </a:pPr>
            <a:r>
              <a:t>Curated Export CSVs</a:t>
            </a:r>
          </a:p>
          <a:p>
            <a:pPr>
              <a:spcBef>
                <a:spcPts val="200"/>
              </a:spcBef>
              <a:defRPr sz="900">
                <a:solidFill>
                  <a:srgbClr val="94A3B8"/>
                </a:solidFill>
                <a:latin typeface="Calibri"/>
              </a:defRPr>
            </a:pPr>
            <a:r>
              <a:t>Pre-aggregated BI Dimensions</a:t>
            </a:r>
          </a:p>
        </p:txBody>
      </p:sp>
      <p:sp>
        <p:nvSpPr>
          <p:cNvPr id="11" name="Rounded Rectangle 10"/>
          <p:cNvSpPr/>
          <p:nvPr/>
        </p:nvSpPr>
        <p:spPr>
          <a:xfrm>
            <a:off x="8823960" y="1371600"/>
            <a:ext cx="2636215" cy="109728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481328"/>
            <a:ext cx="2361895" cy="877824"/>
          </a:xfrm>
          <a:prstGeom prst="rect">
            <a:avLst/>
          </a:prstGeom>
          <a:noFill/>
        </p:spPr>
        <p:txBody>
          <a:bodyPr wrap="square">
            <a:spAutoFit/>
          </a:bodyPr>
          <a:lstStyle/>
          <a:p>
            <a:pPr>
              <a:defRPr sz="2600" b="1">
                <a:solidFill>
                  <a:srgbClr val="F8FAFC"/>
                </a:solidFill>
                <a:latin typeface="Calibri"/>
              </a:defRPr>
            </a:pPr>
            <a:r>
              <a:t>Dual-Mode</a:t>
            </a:r>
          </a:p>
          <a:p>
            <a:pPr>
              <a:spcBef>
                <a:spcPts val="400"/>
              </a:spcBef>
              <a:defRPr sz="1100" b="1">
                <a:solidFill>
                  <a:srgbClr val="F8FAFC"/>
                </a:solidFill>
                <a:latin typeface="Calibri"/>
              </a:defRPr>
            </a:pPr>
            <a:r>
              <a:t>Connection Architecture</a:t>
            </a:r>
          </a:p>
          <a:p>
            <a:pPr>
              <a:spcBef>
                <a:spcPts val="200"/>
              </a:spcBef>
              <a:defRPr sz="900">
                <a:solidFill>
                  <a:srgbClr val="94A3B8"/>
                </a:solidFill>
                <a:latin typeface="Calibri"/>
              </a:defRPr>
            </a:pPr>
            <a:r>
              <a:t>Live API + Offline CSV</a:t>
            </a:r>
          </a:p>
        </p:txBody>
      </p:sp>
      <p:sp>
        <p:nvSpPr>
          <p:cNvPr id="13" name="Rounded Rectangle 12"/>
          <p:cNvSpPr/>
          <p:nvPr/>
        </p:nvSpPr>
        <p:spPr>
          <a:xfrm>
            <a:off x="731520" y="2651760"/>
            <a:ext cx="5120640" cy="356616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754880" cy="3291840"/>
          </a:xfrm>
          <a:prstGeom prst="rect">
            <a:avLst/>
          </a:prstGeom>
          <a:noFill/>
        </p:spPr>
        <p:txBody>
          <a:bodyPr wrap="square">
            <a:spAutoFit/>
          </a:bodyPr>
          <a:lstStyle/>
          <a:p>
            <a:pPr>
              <a:defRPr sz="1300" b="1">
                <a:solidFill>
                  <a:srgbClr val="06B6D4"/>
                </a:solidFill>
              </a:defRPr>
            </a:pPr>
            <a:r>
              <a:t>POWER BI DESKTOP SPECIFICATIONS</a:t>
            </a:r>
          </a:p>
          <a:p>
            <a:pPr>
              <a:spcBef>
                <a:spcPts val="600"/>
              </a:spcBef>
            </a:pPr>
            <a:r>
              <a:rPr b="1" sz="1000">
                <a:solidFill>
                  <a:srgbClr val="F8FAFC"/>
                </a:solidFill>
              </a:rPr>
              <a:t>Page 1: Executive Overview: </a:t>
            </a:r>
            <a:r>
              <a:rPr sz="950">
                <a:solidFill>
                  <a:srgbClr val="94A3B8"/>
                </a:solidFill>
              </a:rPr>
              <a:t>Macro traffic gauge (89.8% malicious), attack donut, and TCP dominance.</a:t>
            </a:r>
          </a:p>
          <a:p>
            <a:pPr>
              <a:spcBef>
                <a:spcPts val="600"/>
              </a:spcBef>
            </a:pPr>
            <a:r>
              <a:rPr b="1" sz="1000">
                <a:solidFill>
                  <a:srgbClr val="F8FAFC"/>
                </a:solidFill>
              </a:rPr>
              <a:t>Page 2: Attack Flow Profiles: </a:t>
            </a:r>
            <a:r>
              <a:rPr sz="950">
                <a:solidFill>
                  <a:srgbClr val="94A3B8"/>
                </a:solidFill>
              </a:rPr>
              <a:t>Flow duration bar chart and bidirectional packet volume scatter plots.</a:t>
            </a:r>
          </a:p>
          <a:p>
            <a:pPr>
              <a:spcBef>
                <a:spcPts val="600"/>
              </a:spcBef>
            </a:pPr>
            <a:r>
              <a:rPr b="1" sz="1000">
                <a:solidFill>
                  <a:srgbClr val="F8FAFC"/>
                </a:solidFill>
              </a:rPr>
              <a:t>Page 3: Statistical Hypotheses: </a:t>
            </a:r>
            <a:r>
              <a:rPr sz="950">
                <a:solidFill>
                  <a:srgbClr val="94A3B8"/>
                </a:solidFill>
              </a:rPr>
              <a:t>Interactive matrix of 11 hypothesis tests with FDR significance indicators.</a:t>
            </a:r>
          </a:p>
          <a:p>
            <a:pPr>
              <a:spcBef>
                <a:spcPts val="600"/>
              </a:spcBef>
            </a:pPr>
            <a:r>
              <a:rPr b="1" sz="1000">
                <a:solidFill>
                  <a:srgbClr val="F8FAFC"/>
                </a:solidFill>
              </a:rPr>
              <a:t>Page 4: Model Evaluation: </a:t>
            </a:r>
            <a:r>
              <a:rPr sz="950">
                <a:solidFill>
                  <a:srgbClr val="94A3B8"/>
                </a:solidFill>
              </a:rPr>
              <a:t>12x12 confusion matrix heatmap and top 20 Gini feature bars.</a:t>
            </a:r>
          </a:p>
          <a:p>
            <a:pPr>
              <a:spcBef>
                <a:spcPts val="600"/>
              </a:spcBef>
            </a:pPr>
            <a:r>
              <a:rPr b="1" sz="1000">
                <a:solidFill>
                  <a:srgbClr val="F8FAFC"/>
                </a:solidFill>
              </a:rPr>
              <a:t>Page 5: Quality &amp; Caveats: </a:t>
            </a:r>
            <a:r>
              <a:rPr sz="950">
                <a:solidFill>
                  <a:srgbClr val="94A3B8"/>
                </a:solidFill>
              </a:rPr>
              <a:t>Missing value audit (0 missing) and observational study disclosures.</a:t>
            </a:r>
          </a:p>
        </p:txBody>
      </p:sp>
      <p:sp>
        <p:nvSpPr>
          <p:cNvPr id="15" name="Rounded Rectangle 14"/>
          <p:cNvSpPr/>
          <p:nvPr/>
        </p:nvSpPr>
        <p:spPr>
          <a:xfrm>
            <a:off x="6217920" y="2651760"/>
            <a:ext cx="5242255" cy="356616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788920"/>
            <a:ext cx="4846320" cy="3291840"/>
          </a:xfrm>
          <a:prstGeom prst="rect">
            <a:avLst/>
          </a:prstGeom>
          <a:noFill/>
        </p:spPr>
        <p:txBody>
          <a:bodyPr wrap="square">
            <a:spAutoFit/>
          </a:bodyPr>
          <a:lstStyle/>
          <a:p>
            <a:pPr>
              <a:defRPr sz="1300" b="1">
                <a:solidFill>
                  <a:srgbClr val="10B981"/>
                </a:solidFill>
              </a:defRPr>
            </a:pPr>
            <a:r>
              <a:t>BI INTEGRATION ARCHITECTURE</a:t>
            </a:r>
          </a:p>
          <a:p>
            <a:pPr>
              <a:spcBef>
                <a:spcPts val="800"/>
              </a:spcBef>
            </a:pPr>
            <a:r>
              <a:rPr b="1" sz="1000">
                <a:solidFill>
                  <a:srgbClr val="F8FAFC"/>
                </a:solidFill>
              </a:rPr>
              <a:t>Power Query M Integration: </a:t>
            </a:r>
            <a:r>
              <a:rPr sz="950">
                <a:solidFill>
                  <a:srgbClr val="94A3B8"/>
                </a:solidFill>
              </a:rPr>
              <a:t>Included `PowerQuery_M_Templates.pq` enables dynamic refresh via `Json.Document(Web.Contents('http://127.0.0.1:8000/api/...'))`.</a:t>
            </a:r>
          </a:p>
          <a:p>
            <a:pPr>
              <a:spcBef>
                <a:spcPts val="800"/>
              </a:spcBef>
            </a:pPr>
            <a:r>
              <a:rPr b="1" sz="1000">
                <a:solidFill>
                  <a:srgbClr val="F8FAFC"/>
                </a:solidFill>
              </a:rPr>
              <a:t>Star-Schema Modeling: </a:t>
            </a:r>
            <a:r>
              <a:rPr sz="950">
                <a:solidFill>
                  <a:srgbClr val="94A3B8"/>
                </a:solidFill>
              </a:rPr>
              <a:t>Fact table `Flows` connected via 1-to-many relationships to `AttackDistribution`, `ProtocolDistribution`, and `ServiceDistribution`.</a:t>
            </a:r>
          </a:p>
          <a:p>
            <a:pPr>
              <a:spcBef>
                <a:spcPts val="800"/>
              </a:spcBef>
            </a:pPr>
            <a:r>
              <a:rPr b="1" sz="1000">
                <a:solidFill>
                  <a:srgbClr val="F8FAFC"/>
                </a:solidFill>
              </a:rPr>
              <a:t>One-Click Web Export: </a:t>
            </a:r>
            <a:r>
              <a:rPr sz="950">
                <a:solidFill>
                  <a:srgbClr val="94A3B8"/>
                </a:solidFill>
              </a:rPr>
              <a:t>The web application topbar includes an 'Export Curated CSV' button streaming `iot_pulse_clean_flows.csv` directly into Power BI.</a:t>
            </a:r>
          </a:p>
          <a:p>
            <a:pPr>
              <a:spcBef>
                <a:spcPts val="800"/>
              </a:spcBef>
            </a:pPr>
            <a:r>
              <a:rPr b="1" sz="1000">
                <a:solidFill>
                  <a:srgbClr val="F8FAFC"/>
                </a:solidFill>
              </a:rPr>
              <a:t>Native macOS Tableau Workbook: </a:t>
            </a:r>
            <a:r>
              <a:rPr sz="950">
                <a:solidFill>
                  <a:srgbClr val="94A3B8"/>
                </a:solidFill>
              </a:rPr>
              <a:t>Includes `IoT_PULSE_Cybersecurity_Analytics.twb` configured for native cross-platform macOS evaluation.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ACADEMIC RIGOUR &amp; HONESTY</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Research Limitations &amp; Observational Caveats</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11 / 12</a:t>
            </a:r>
          </a:p>
        </p:txBody>
      </p:sp>
      <p:sp>
        <p:nvSpPr>
          <p:cNvPr id="5" name="Rounded Rectangle 4"/>
          <p:cNvSpPr/>
          <p:nvPr/>
        </p:nvSpPr>
        <p:spPr>
          <a:xfrm>
            <a:off x="731520" y="1371600"/>
            <a:ext cx="5120640" cy="23317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81328"/>
            <a:ext cx="4846320" cy="2112264"/>
          </a:xfrm>
          <a:prstGeom prst="rect">
            <a:avLst/>
          </a:prstGeom>
          <a:noFill/>
        </p:spPr>
        <p:txBody>
          <a:bodyPr wrap="square">
            <a:spAutoFit/>
          </a:bodyPr>
          <a:lstStyle/>
          <a:p>
            <a:pPr>
              <a:defRPr sz="1200" b="1">
                <a:solidFill>
                  <a:srgbClr val="F59E0B"/>
                </a:solidFill>
              </a:defRPr>
            </a:pPr>
            <a:r>
              <a:t>1. Observational Study (Not Randomized A/B)</a:t>
            </a:r>
          </a:p>
          <a:p>
            <a:pPr>
              <a:spcBef>
                <a:spcPts val="600"/>
              </a:spcBef>
              <a:defRPr sz="1000">
                <a:solidFill>
                  <a:srgbClr val="94A3B8"/>
                </a:solidFill>
              </a:defRPr>
            </a:pPr>
            <a:r>
              <a:t>The dataset consists of observational recorded network traffic. Group comparisons (TCP vs UDP, MQTT vs Non-MQTT) do not feature randomized assignment to treatment and control. Statistical associations must not be interpreted as causal relationships.</a:t>
            </a:r>
          </a:p>
        </p:txBody>
      </p:sp>
      <p:sp>
        <p:nvSpPr>
          <p:cNvPr id="7" name="Rounded Rectangle 6"/>
          <p:cNvSpPr/>
          <p:nvPr/>
        </p:nvSpPr>
        <p:spPr>
          <a:xfrm>
            <a:off x="6339535" y="1371600"/>
            <a:ext cx="5120640" cy="23317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6695" y="1481328"/>
            <a:ext cx="4846320" cy="2112264"/>
          </a:xfrm>
          <a:prstGeom prst="rect">
            <a:avLst/>
          </a:prstGeom>
          <a:noFill/>
        </p:spPr>
        <p:txBody>
          <a:bodyPr wrap="square">
            <a:spAutoFit/>
          </a:bodyPr>
          <a:lstStyle/>
          <a:p>
            <a:pPr>
              <a:defRPr sz="1200" b="1">
                <a:solidFill>
                  <a:srgbClr val="06B6D4"/>
                </a:solidFill>
              </a:defRPr>
            </a:pPr>
            <a:r>
              <a:t>2. Lab Testbed Generalization Limits</a:t>
            </a:r>
          </a:p>
          <a:p>
            <a:pPr>
              <a:spcBef>
                <a:spcPts val="600"/>
              </a:spcBef>
              <a:defRPr sz="1000">
                <a:solidFill>
                  <a:srgbClr val="94A3B8"/>
                </a:solidFill>
              </a:defRPr>
            </a:pPr>
            <a:r>
              <a:t>Data was captured in an emulated IoT testbed. Machine learning scores reflect separability within this specific collection session; models may not generalize identically to unseen zero-days, production networks, or unrepresented IoT devices.</a:t>
            </a:r>
          </a:p>
        </p:txBody>
      </p:sp>
      <p:sp>
        <p:nvSpPr>
          <p:cNvPr id="9" name="Rounded Rectangle 8"/>
          <p:cNvSpPr/>
          <p:nvPr/>
        </p:nvSpPr>
        <p:spPr>
          <a:xfrm>
            <a:off x="731520" y="3886200"/>
            <a:ext cx="5120640" cy="23317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995928"/>
            <a:ext cx="4846320" cy="2112264"/>
          </a:xfrm>
          <a:prstGeom prst="rect">
            <a:avLst/>
          </a:prstGeom>
          <a:noFill/>
        </p:spPr>
        <p:txBody>
          <a:bodyPr wrap="square">
            <a:spAutoFit/>
          </a:bodyPr>
          <a:lstStyle/>
          <a:p>
            <a:pPr>
              <a:defRPr sz="1200" b="1">
                <a:solidFill>
                  <a:srgbClr val="10B981"/>
                </a:solidFill>
              </a:defRPr>
            </a:pPr>
            <a:r>
              <a:t>3. Statistical Flow Dependence &amp; Clustering</a:t>
            </a:r>
          </a:p>
          <a:p>
            <a:pPr>
              <a:spcBef>
                <a:spcPts val="600"/>
              </a:spcBef>
              <a:defRPr sz="1000">
                <a:solidFill>
                  <a:srgbClr val="94A3B8"/>
                </a:solidFill>
              </a:defRPr>
            </a:pPr>
            <a:r>
              <a:t>Network flows generated in bursts exhibit temporal and device-level autocorrelation. When records are not strictly independent and identically distributed (i.i.d.), standard inferential tests can yield overly optimistic p-values.</a:t>
            </a:r>
          </a:p>
        </p:txBody>
      </p:sp>
      <p:sp>
        <p:nvSpPr>
          <p:cNvPr id="11" name="Rounded Rectangle 10"/>
          <p:cNvSpPr/>
          <p:nvPr/>
        </p:nvSpPr>
        <p:spPr>
          <a:xfrm>
            <a:off x="6339535" y="3886200"/>
            <a:ext cx="5120640" cy="23317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6695" y="3995928"/>
            <a:ext cx="4846320" cy="2112264"/>
          </a:xfrm>
          <a:prstGeom prst="rect">
            <a:avLst/>
          </a:prstGeom>
          <a:noFill/>
        </p:spPr>
        <p:txBody>
          <a:bodyPr wrap="square">
            <a:spAutoFit/>
          </a:bodyPr>
          <a:lstStyle/>
          <a:p>
            <a:pPr>
              <a:defRPr sz="1200" b="1">
                <a:solidFill>
                  <a:srgbClr val="F8FAFC"/>
                </a:solidFill>
              </a:defRPr>
            </a:pPr>
            <a:r>
              <a:t>4. Aggregated Flow Logging (Zeek vs Packets)</a:t>
            </a:r>
          </a:p>
          <a:p>
            <a:pPr>
              <a:spcBef>
                <a:spcPts val="600"/>
              </a:spcBef>
              <a:defRPr sz="1000">
                <a:solidFill>
                  <a:srgbClr val="94A3B8"/>
                </a:solidFill>
              </a:defRPr>
            </a:pPr>
            <a:r>
              <a:t>Zeek logs aggregate bidirectional flow statistics over session intervals rather than raw packet arrival timestamps. This restricts fine-grained packet-level inter-arrival sequence analysis without raw PCAP captures.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Calibri"/>
              </a:defRPr>
            </a:pPr>
            <a:r>
              <a:t>PROJECT SYNTHESIS &amp; IMPACT</a:t>
            </a:r>
          </a:p>
        </p:txBody>
      </p:sp>
      <p:sp>
        <p:nvSpPr>
          <p:cNvPr id="3" name="TextBox 2"/>
          <p:cNvSpPr txBox="1"/>
          <p:nvPr/>
        </p:nvSpPr>
        <p:spPr>
          <a:xfrm>
            <a:off x="731520" y="640080"/>
            <a:ext cx="9601200" cy="594360"/>
          </a:xfrm>
          <a:prstGeom prst="rect">
            <a:avLst/>
          </a:prstGeom>
          <a:noFill/>
        </p:spPr>
        <p:txBody>
          <a:bodyPr wrap="square">
            <a:spAutoFit/>
          </a:bodyPr>
          <a:lstStyle/>
          <a:p>
            <a:pPr>
              <a:defRPr sz="2200" b="1">
                <a:solidFill>
                  <a:srgbClr val="F8FAFC"/>
                </a:solidFill>
                <a:latin typeface="Calibri"/>
              </a:defRPr>
            </a:pPr>
            <a:r>
              <a:t>Evidence-Based Conclusions &amp; Future Roadmap</a:t>
            </a:r>
          </a:p>
        </p:txBody>
      </p:sp>
      <p:sp>
        <p:nvSpPr>
          <p:cNvPr id="4" name="TextBox 3"/>
          <p:cNvSpPr txBox="1"/>
          <p:nvPr/>
        </p:nvSpPr>
        <p:spPr>
          <a:xfrm>
            <a:off x="9601200" y="365760"/>
            <a:ext cx="1828800" cy="365760"/>
          </a:xfrm>
          <a:prstGeom prst="rect">
            <a:avLst/>
          </a:prstGeom>
          <a:noFill/>
        </p:spPr>
        <p:txBody>
          <a:bodyPr wrap="none">
            <a:spAutoFit/>
          </a:bodyPr>
          <a:lstStyle/>
          <a:p>
            <a:pPr algn="r">
              <a:defRPr sz="1000" b="1">
                <a:solidFill>
                  <a:srgbClr val="94A3B8"/>
                </a:solidFill>
                <a:latin typeface="Calibri"/>
              </a:defRPr>
            </a:pPr>
            <a:r>
              <a:t>SLIDE 12 / 12</a:t>
            </a:r>
          </a:p>
        </p:txBody>
      </p:sp>
      <p:sp>
        <p:nvSpPr>
          <p:cNvPr id="5" name="Rounded Rectangle 4"/>
          <p:cNvSpPr/>
          <p:nvPr/>
        </p:nvSpPr>
        <p:spPr>
          <a:xfrm>
            <a:off x="731520" y="1371600"/>
            <a:ext cx="5120640"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754880" cy="4480560"/>
          </a:xfrm>
          <a:prstGeom prst="rect">
            <a:avLst/>
          </a:prstGeom>
          <a:noFill/>
        </p:spPr>
        <p:txBody>
          <a:bodyPr wrap="square">
            <a:spAutoFit/>
          </a:bodyPr>
          <a:lstStyle/>
          <a:p>
            <a:pPr>
              <a:defRPr sz="1300" b="1">
                <a:solidFill>
                  <a:srgbClr val="10B981"/>
                </a:solidFill>
              </a:defRPr>
            </a:pPr>
            <a:r>
              <a:t>CORE EVIDENCE-BASED CONCLUSIONS</a:t>
            </a:r>
          </a:p>
          <a:p>
            <a:pPr>
              <a:spcBef>
                <a:spcPts val="1000"/>
              </a:spcBef>
            </a:pPr>
            <a:r>
              <a:rPr b="1" sz="1050">
                <a:solidFill>
                  <a:srgbClr val="F8FAFC"/>
                </a:solidFill>
              </a:rPr>
              <a:t>1. Temporal &amp; Volumetric Fingerprints: </a:t>
            </a:r>
            <a:r>
              <a:rPr sz="1050">
                <a:solidFill>
                  <a:srgbClr val="94A3B8"/>
                </a:solidFill>
              </a:rPr>
              <a:t>Normal IoT devices (e.g. MQTT) maintain long-lived sessions (median ~44s) with small bidirectional payloads. Attacks exhibit millisecond durations with unidirectional flooding.</a:t>
            </a:r>
          </a:p>
          <a:p>
            <a:pPr>
              <a:spcBef>
                <a:spcPts val="1000"/>
              </a:spcBef>
            </a:pPr>
            <a:r>
              <a:rPr b="1" sz="1050">
                <a:solidFill>
                  <a:srgbClr val="F8FAFC"/>
                </a:solidFill>
              </a:rPr>
              <a:t>2. The Myth of the Gaussian Assumption: </a:t>
            </a:r>
            <a:r>
              <a:rPr sz="1050">
                <a:solidFill>
                  <a:srgbClr val="94A3B8"/>
                </a:solidFill>
              </a:rPr>
              <a:t>Extreme right-skewness and zero-inflation confirmed that non-parametric methods are mandatory for network telemetry.</a:t>
            </a:r>
          </a:p>
          <a:p>
            <a:pPr>
              <a:spcBef>
                <a:spcPts val="1000"/>
              </a:spcBef>
            </a:pPr>
            <a:r>
              <a:rPr b="1" sz="1050">
                <a:solidFill>
                  <a:srgbClr val="F8FAFC"/>
                </a:solidFill>
              </a:rPr>
              <a:t>3. Statistical Survival Under FDR: </a:t>
            </a:r>
            <a:r>
              <a:rPr sz="1050">
                <a:solidFill>
                  <a:srgbClr val="94A3B8"/>
                </a:solidFill>
              </a:rPr>
              <a:t>All 11 inferential hypotheses maintained significance under Benjamini-Hochberg adjustment (p_adj &lt; 0.0001), establishing robust statistical separability.</a:t>
            </a:r>
          </a:p>
          <a:p>
            <a:pPr>
              <a:spcBef>
                <a:spcPts val="1000"/>
              </a:spcBef>
            </a:pPr>
            <a:r>
              <a:rPr b="1" sz="1050">
                <a:solidFill>
                  <a:srgbClr val="F8FAFC"/>
                </a:solidFill>
              </a:rPr>
              <a:t>4. Machine Learning Viability: </a:t>
            </a:r>
            <a:r>
              <a:rPr sz="1050">
                <a:solidFill>
                  <a:srgbClr val="94A3B8"/>
                </a:solidFill>
              </a:rPr>
              <a:t>Cost-sensitive Random Forest achieved Macro-F1 = 0.9338, confirming high multiclass discriminative power when class weights are appropriately balanced.</a:t>
            </a:r>
          </a:p>
        </p:txBody>
      </p:sp>
      <p:sp>
        <p:nvSpPr>
          <p:cNvPr id="7" name="Rounded Rectangle 6"/>
          <p:cNvSpPr/>
          <p:nvPr/>
        </p:nvSpPr>
        <p:spPr>
          <a:xfrm>
            <a:off x="6217920" y="1371600"/>
            <a:ext cx="5242255" cy="4846320"/>
          </a:xfrm>
          <a:prstGeom prst="roundRect">
            <a:avLst/>
          </a:prstGeom>
          <a:solidFill>
            <a:srgbClr val="11192C"/>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480560"/>
          </a:xfrm>
          <a:prstGeom prst="rect">
            <a:avLst/>
          </a:prstGeom>
          <a:noFill/>
        </p:spPr>
        <p:txBody>
          <a:bodyPr wrap="square">
            <a:spAutoFit/>
          </a:bodyPr>
          <a:lstStyle/>
          <a:p>
            <a:pPr>
              <a:defRPr sz="1300" b="1">
                <a:solidFill>
                  <a:srgbClr val="06B6D4"/>
                </a:solidFill>
              </a:defRPr>
            </a:pPr>
            <a:r>
              <a:t>FUTURE ENHANCEMENTS ROADMAP</a:t>
            </a:r>
          </a:p>
          <a:p>
            <a:pPr>
              <a:spcBef>
                <a:spcPts val="1000"/>
              </a:spcBef>
            </a:pPr>
            <a:r>
              <a:rPr b="1" sz="1050">
                <a:solidFill>
                  <a:srgbClr val="F8FAFC"/>
                </a:solidFill>
              </a:rPr>
              <a:t>Cross-Dataset Validation: </a:t>
            </a:r>
            <a:r>
              <a:rPr sz="1050">
                <a:solidFill>
                  <a:srgbClr val="94A3B8"/>
                </a:solidFill>
              </a:rPr>
              <a:t>Test the pre-trained Random Forest model on independent benchmarks (e.g. BoT-IoT, TON_IoT) to evaluate cross-environment generalization.</a:t>
            </a:r>
          </a:p>
          <a:p>
            <a:pPr>
              <a:spcBef>
                <a:spcPts val="1000"/>
              </a:spcBef>
            </a:pPr>
            <a:r>
              <a:rPr b="1" sz="1050">
                <a:solidFill>
                  <a:srgbClr val="F8FAFC"/>
                </a:solidFill>
              </a:rPr>
              <a:t>Deep Sequential Architectures: </a:t>
            </a:r>
            <a:r>
              <a:rPr sz="1050">
                <a:solidFill>
                  <a:srgbClr val="94A3B8"/>
                </a:solidFill>
              </a:rPr>
              <a:t>Implement Temporal Convolutional Networks (TCN) and Transformers to evaluate raw packet sequences without manual flow aggregation.</a:t>
            </a:r>
          </a:p>
          <a:p>
            <a:pPr>
              <a:spcBef>
                <a:spcPts val="1000"/>
              </a:spcBef>
            </a:pPr>
            <a:r>
              <a:rPr b="1" sz="1050">
                <a:solidFill>
                  <a:srgbClr val="F8FAFC"/>
                </a:solidFill>
              </a:rPr>
              <a:t>Live Inline SOC Sniffing: </a:t>
            </a:r>
            <a:r>
              <a:rPr sz="1050">
                <a:solidFill>
                  <a:srgbClr val="94A3B8"/>
                </a:solidFill>
              </a:rPr>
              <a:t>Integrate live libpcap packet capture streaming into the DuckDB engine for real-time edge intrusion detection.</a:t>
            </a:r>
          </a:p>
          <a:p>
            <a:pPr>
              <a:spcBef>
                <a:spcPts val="1000"/>
              </a:spcBef>
            </a:pPr>
            <a:r>
              <a:rPr b="1" sz="1050">
                <a:solidFill>
                  <a:srgbClr val="F8FAFC"/>
                </a:solidFill>
              </a:rPr>
              <a:t>Zero-Day Anomaly Detection: </a:t>
            </a:r>
            <a:r>
              <a:rPr sz="1050">
                <a:solidFill>
                  <a:srgbClr val="94A3B8"/>
                </a:solidFill>
              </a:rPr>
              <a:t>Incorporate unsupervised autoencoders and Isolation Forests to flag zero-day attacks with no prior training labels.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